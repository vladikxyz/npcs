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Lexend SemiBold"/>
      <p:regular r:id="rId34"/>
      <p:bold r:id="rId35"/>
    </p:embeddedFont>
    <p:embeddedFont>
      <p:font typeface="Inter"/>
      <p:regular r:id="rId36"/>
      <p:bold r:id="rId37"/>
      <p:italic r:id="rId38"/>
      <p:boldItalic r:id="rId39"/>
    </p:embeddedFont>
    <p:embeddedFont>
      <p:font typeface="Lexend Medium"/>
      <p:regular r:id="rId40"/>
      <p:bold r:id="rId41"/>
    </p:embeddedFont>
    <p:embeddedFont>
      <p:font typeface="Lexend"/>
      <p:regular r:id="rId42"/>
      <p:bold r:id="rId43"/>
    </p:embeddedFont>
    <p:embeddedFont>
      <p:font typeface="Oswald"/>
      <p:bold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exendMedium-regular.fntdata"/><Relationship Id="rId20" Type="http://schemas.openxmlformats.org/officeDocument/2006/relationships/slide" Target="slides/slide15.xml"/><Relationship Id="rId42" Type="http://schemas.openxmlformats.org/officeDocument/2006/relationships/font" Target="fonts/Lexend-regular.fntdata"/><Relationship Id="rId41" Type="http://schemas.openxmlformats.org/officeDocument/2006/relationships/font" Target="fonts/LexendMedium-bold.fntdata"/><Relationship Id="rId22" Type="http://schemas.openxmlformats.org/officeDocument/2006/relationships/slide" Target="slides/slide17.xml"/><Relationship Id="rId44" Type="http://schemas.openxmlformats.org/officeDocument/2006/relationships/font" Target="fonts/Oswald-bold.fntdata"/><Relationship Id="rId21" Type="http://schemas.openxmlformats.org/officeDocument/2006/relationships/slide" Target="slides/slide16.xml"/><Relationship Id="rId43" Type="http://schemas.openxmlformats.org/officeDocument/2006/relationships/font" Target="fonts/Lexend-bold.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LexendSemiBold-bold.fntdata"/><Relationship Id="rId12" Type="http://schemas.openxmlformats.org/officeDocument/2006/relationships/slide" Target="slides/slide7.xml"/><Relationship Id="rId34" Type="http://schemas.openxmlformats.org/officeDocument/2006/relationships/font" Target="fonts/LexendSemiBold-regular.fntdata"/><Relationship Id="rId15" Type="http://schemas.openxmlformats.org/officeDocument/2006/relationships/slide" Target="slides/slide10.xml"/><Relationship Id="rId37" Type="http://schemas.openxmlformats.org/officeDocument/2006/relationships/font" Target="fonts/Inter-bold.fntdata"/><Relationship Id="rId14" Type="http://schemas.openxmlformats.org/officeDocument/2006/relationships/slide" Target="slides/slide9.xml"/><Relationship Id="rId36" Type="http://schemas.openxmlformats.org/officeDocument/2006/relationships/font" Target="fonts/Inter-regular.fntdata"/><Relationship Id="rId17" Type="http://schemas.openxmlformats.org/officeDocument/2006/relationships/slide" Target="slides/slide12.xml"/><Relationship Id="rId39" Type="http://schemas.openxmlformats.org/officeDocument/2006/relationships/font" Target="fonts/Inter-boldItalic.fntdata"/><Relationship Id="rId16" Type="http://schemas.openxmlformats.org/officeDocument/2006/relationships/slide" Target="slides/slide11.xml"/><Relationship Id="rId38" Type="http://schemas.openxmlformats.org/officeDocument/2006/relationships/font" Target="fonts/Inter-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3396365d6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3396365d6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e3396365d6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e3396365d6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885123b6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885123b6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885123b6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885123b6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885123b6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885123b6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885123b6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885123b6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885123b67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a885123b67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885123b67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885123b67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885123b6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885123b6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a885123b6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a885123b6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3396365d6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e3396365d6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e3396365d6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e3396365d6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885123b6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a885123b6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3396365d6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e3396365d6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e2edb2c6d4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e2edb2c6d4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e33b2f2c9b_25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e33b2f2c9b_25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3396365d6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e3396365d6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e33b2f2c9b_25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e33b2f2c9b_25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e33b2f2c9b_25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e33b2f2c9b_25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e33b2f2c9b_25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e33b2f2c9b_25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e33b2f2c9b_25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e33b2f2c9b_25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33b2f2c9b_25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e33b2f2c9b_25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33b2f2c9b_25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e33b2f2c9b_25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cs"/>
              <a:t>mention: USED LLM (DeepSeek) to process the results of the test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e3396365d6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e3396365d6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e3396365d6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e3396365d6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e3396365d6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e3396365d6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e3396365d6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e3396365d6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c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osf.io/preprints/psyarxiv/xynwg_v1" TargetMode="External"/><Relationship Id="rId4" Type="http://schemas.openxmlformats.org/officeDocument/2006/relationships/hyperlink" Target="https://pmc.ncbi.nlm.nih.gov/articles/PMC10077995/pdf/joc-6-1-268.pdf" TargetMode="External"/><Relationship Id="rId10" Type="http://schemas.openxmlformats.org/officeDocument/2006/relationships/hyperlink" Target="https://www.techrxiv.org/doi/pdf/10.36227/techrxiv.177273703.32888475/v1" TargetMode="External"/><Relationship Id="rId9" Type="http://schemas.openxmlformats.org/officeDocument/2006/relationships/hyperlink" Target="https://arxiv.org/html/2601.05339v1" TargetMode="External"/><Relationship Id="rId5" Type="http://schemas.openxmlformats.org/officeDocument/2006/relationships/hyperlink" Target="https://arxiv.org/abs/2605.12185v1" TargetMode="External"/><Relationship Id="rId6" Type="http://schemas.openxmlformats.org/officeDocument/2006/relationships/hyperlink" Target="https://arxiv.org/abs/2605.12185v1" TargetMode="External"/><Relationship Id="rId7" Type="http://schemas.openxmlformats.org/officeDocument/2006/relationships/hyperlink" Target="https://platform.openai.com/tokenizer" TargetMode="External"/><Relationship Id="rId8" Type="http://schemas.openxmlformats.org/officeDocument/2006/relationships/hyperlink" Target="https://arxiv.org/abs/2502.09723v3"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19.png"/><Relationship Id="rId6"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2286000"/>
            <a:ext cx="8520600" cy="952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cs" sz="5880">
                <a:solidFill>
                  <a:srgbClr val="FFFFFF"/>
                </a:solidFill>
                <a:latin typeface="Oswald"/>
                <a:ea typeface="Oswald"/>
                <a:cs typeface="Oswald"/>
                <a:sym typeface="Oswald"/>
              </a:rPr>
              <a:t>LLM </a:t>
            </a:r>
            <a:r>
              <a:rPr b="1" lang="cs" sz="5880">
                <a:solidFill>
                  <a:srgbClr val="6366F1"/>
                </a:solidFill>
                <a:latin typeface="Oswald"/>
                <a:ea typeface="Oswald"/>
                <a:cs typeface="Oswald"/>
                <a:sym typeface="Oswald"/>
              </a:rPr>
              <a:t>NPC</a:t>
            </a:r>
            <a:endParaRPr b="1" sz="5880">
              <a:solidFill>
                <a:srgbClr val="FFFFFF"/>
              </a:solidFill>
              <a:latin typeface="Oswald"/>
              <a:ea typeface="Oswald"/>
              <a:cs typeface="Oswald"/>
              <a:sym typeface="Oswald"/>
            </a:endParaRPr>
          </a:p>
        </p:txBody>
      </p:sp>
      <p:sp>
        <p:nvSpPr>
          <p:cNvPr id="55" name="Google Shape;55;p13"/>
          <p:cNvSpPr txBox="1"/>
          <p:nvPr>
            <p:ph idx="1" type="subTitle"/>
          </p:nvPr>
        </p:nvSpPr>
        <p:spPr>
          <a:xfrm>
            <a:off x="311700" y="3238500"/>
            <a:ext cx="8520600" cy="3810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ctr">
              <a:spcBef>
                <a:spcPts val="0"/>
              </a:spcBef>
              <a:spcAft>
                <a:spcPts val="0"/>
              </a:spcAft>
              <a:buNone/>
            </a:pPr>
            <a:r>
              <a:rPr b="0" lang="cs" sz="1800">
                <a:solidFill>
                  <a:srgbClr val="94A3B8"/>
                </a:solidFill>
                <a:latin typeface="Inter"/>
                <a:ea typeface="Inter"/>
                <a:cs typeface="Inter"/>
                <a:sym typeface="Inter"/>
              </a:rPr>
              <a:t>Martin </a:t>
            </a:r>
            <a:r>
              <a:rPr lang="cs" sz="1800">
                <a:solidFill>
                  <a:srgbClr val="94A3B8"/>
                </a:solidFill>
                <a:latin typeface="Inter"/>
                <a:ea typeface="Inter"/>
                <a:cs typeface="Inter"/>
                <a:sym typeface="Inter"/>
              </a:rPr>
              <a:t>Dostál • Vladimír Sádovský</a:t>
            </a:r>
            <a:r>
              <a:rPr b="0" lang="cs" sz="1800">
                <a:solidFill>
                  <a:srgbClr val="94A3B8"/>
                </a:solidFill>
                <a:latin typeface="Inter"/>
                <a:ea typeface="Inter"/>
                <a:cs typeface="Inter"/>
                <a:sym typeface="Inter"/>
              </a:rPr>
              <a:t> • Jakub </a:t>
            </a:r>
            <a:r>
              <a:rPr lang="cs" sz="1800">
                <a:solidFill>
                  <a:srgbClr val="94A3B8"/>
                </a:solidFill>
                <a:latin typeface="Inter"/>
                <a:ea typeface="Inter"/>
                <a:cs typeface="Inter"/>
                <a:sym typeface="Inter"/>
              </a:rPr>
              <a:t>Rollo </a:t>
            </a:r>
            <a:endParaRPr b="0" sz="1800">
              <a:solidFill>
                <a:srgbClr val="94A3B8"/>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nvSpPr>
        <p:spPr>
          <a:xfrm>
            <a:off x="376525" y="1989746"/>
            <a:ext cx="2575800" cy="2103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cs" sz="2200">
                <a:solidFill>
                  <a:srgbClr val="6366F1"/>
                </a:solidFill>
                <a:latin typeface="Oswald"/>
                <a:ea typeface="Oswald"/>
                <a:cs typeface="Oswald"/>
                <a:sym typeface="Oswald"/>
              </a:rPr>
              <a:t>MODELS</a:t>
            </a:r>
            <a:endParaRPr b="1" i="0" sz="2200">
              <a:solidFill>
                <a:srgbClr val="6366F1"/>
              </a:solidFill>
              <a:latin typeface="Oswald"/>
              <a:ea typeface="Oswald"/>
              <a:cs typeface="Oswald"/>
              <a:sym typeface="Oswald"/>
            </a:endParaRPr>
          </a:p>
          <a:p>
            <a:pPr indent="-317500" lvl="0" marL="457200" rtl="0" algn="l">
              <a:spcBef>
                <a:spcPts val="800"/>
              </a:spcBef>
              <a:spcAft>
                <a:spcPts val="0"/>
              </a:spcAft>
              <a:buClr>
                <a:srgbClr val="6366F1"/>
              </a:buClr>
              <a:buSzPts val="1400"/>
              <a:buFont typeface="Lexend"/>
              <a:buChar char="●"/>
            </a:pPr>
            <a:r>
              <a:rPr b="0" i="0" lang="cs" sz="1400">
                <a:solidFill>
                  <a:srgbClr val="CBD5E1"/>
                </a:solidFill>
                <a:latin typeface="Lexend Medium"/>
                <a:ea typeface="Lexend Medium"/>
                <a:cs typeface="Lexend Medium"/>
                <a:sym typeface="Lexend Medium"/>
              </a:rPr>
              <a:t>Gemma 4 E2B - 5.1B</a:t>
            </a:r>
            <a:endParaRPr b="0" i="0" sz="1400">
              <a:solidFill>
                <a:srgbClr val="CBD5E1"/>
              </a:solidFill>
              <a:latin typeface="Lexend Medium"/>
              <a:ea typeface="Lexend Medium"/>
              <a:cs typeface="Lexend Medium"/>
              <a:sym typeface="Lexend Medium"/>
            </a:endParaRPr>
          </a:p>
          <a:p>
            <a:pPr indent="-317500" lvl="0" marL="457200" rtl="0" algn="l">
              <a:spcBef>
                <a:spcPts val="200"/>
              </a:spcBef>
              <a:spcAft>
                <a:spcPts val="0"/>
              </a:spcAft>
              <a:buClr>
                <a:srgbClr val="6366F1"/>
              </a:buClr>
              <a:buSzPts val="1400"/>
              <a:buFont typeface="Lexend"/>
              <a:buChar char="●"/>
            </a:pPr>
            <a:r>
              <a:rPr b="0" i="0" lang="cs" sz="1400">
                <a:solidFill>
                  <a:srgbClr val="CBD5E1"/>
                </a:solidFill>
                <a:latin typeface="Lexend Medium"/>
                <a:ea typeface="Lexend Medium"/>
                <a:cs typeface="Lexend Medium"/>
                <a:sym typeface="Lexend Medium"/>
              </a:rPr>
              <a:t>Gemma 4 E4B - 8B</a:t>
            </a:r>
            <a:endParaRPr b="0" i="0" sz="1400">
              <a:solidFill>
                <a:srgbClr val="CBD5E1"/>
              </a:solidFill>
              <a:latin typeface="Lexend Medium"/>
              <a:ea typeface="Lexend Medium"/>
              <a:cs typeface="Lexend Medium"/>
              <a:sym typeface="Lexend Medium"/>
            </a:endParaRPr>
          </a:p>
          <a:p>
            <a:pPr indent="-317500" lvl="0" marL="457200" rtl="0" algn="l">
              <a:spcBef>
                <a:spcPts val="200"/>
              </a:spcBef>
              <a:spcAft>
                <a:spcPts val="0"/>
              </a:spcAft>
              <a:buClr>
                <a:srgbClr val="6366F1"/>
              </a:buClr>
              <a:buSzPts val="1400"/>
              <a:buFont typeface="Lexend"/>
              <a:buChar char="●"/>
            </a:pPr>
            <a:r>
              <a:rPr b="0" i="0" lang="cs" sz="1400">
                <a:solidFill>
                  <a:srgbClr val="CBD5E1"/>
                </a:solidFill>
                <a:latin typeface="Lexend Medium"/>
                <a:ea typeface="Lexend Medium"/>
                <a:cs typeface="Lexend Medium"/>
                <a:sym typeface="Lexend Medium"/>
              </a:rPr>
              <a:t>Llama 3.1 - 8B</a:t>
            </a:r>
            <a:endParaRPr b="0" i="0" sz="1400">
              <a:solidFill>
                <a:srgbClr val="CBD5E1"/>
              </a:solidFill>
              <a:latin typeface="Lexend Medium"/>
              <a:ea typeface="Lexend Medium"/>
              <a:cs typeface="Lexend Medium"/>
              <a:sym typeface="Lexend Medium"/>
            </a:endParaRPr>
          </a:p>
          <a:p>
            <a:pPr indent="-317500" lvl="0" marL="457200" rtl="0" algn="l">
              <a:spcBef>
                <a:spcPts val="200"/>
              </a:spcBef>
              <a:spcAft>
                <a:spcPts val="0"/>
              </a:spcAft>
              <a:buClr>
                <a:srgbClr val="6366F1"/>
              </a:buClr>
              <a:buSzPts val="1400"/>
              <a:buFont typeface="Lexend"/>
              <a:buChar char="●"/>
            </a:pPr>
            <a:r>
              <a:rPr b="0" i="0" lang="cs" sz="1400">
                <a:solidFill>
                  <a:srgbClr val="CBD5E1"/>
                </a:solidFill>
                <a:latin typeface="Lexend Medium"/>
                <a:ea typeface="Lexend Medium"/>
                <a:cs typeface="Lexend Medium"/>
                <a:sym typeface="Lexend Medium"/>
              </a:rPr>
              <a:t>Mistral Nemo - 12B</a:t>
            </a:r>
            <a:endParaRPr b="0" i="0" sz="1400">
              <a:solidFill>
                <a:srgbClr val="CBD5E1"/>
              </a:solidFill>
              <a:latin typeface="Lexend Medium"/>
              <a:ea typeface="Lexend Medium"/>
              <a:cs typeface="Lexend Medium"/>
              <a:sym typeface="Lexend Medium"/>
            </a:endParaRPr>
          </a:p>
          <a:p>
            <a:pPr indent="-317500" lvl="0" marL="457200" rtl="0" algn="l">
              <a:spcBef>
                <a:spcPts val="200"/>
              </a:spcBef>
              <a:spcAft>
                <a:spcPts val="0"/>
              </a:spcAft>
              <a:buClr>
                <a:srgbClr val="6366F1"/>
              </a:buClr>
              <a:buSzPts val="1400"/>
              <a:buFont typeface="Lexend"/>
              <a:buChar char="●"/>
            </a:pPr>
            <a:r>
              <a:rPr b="0" i="0" lang="cs" sz="1400">
                <a:solidFill>
                  <a:srgbClr val="CBD5E1"/>
                </a:solidFill>
                <a:latin typeface="Lexend Medium"/>
                <a:ea typeface="Lexend Medium"/>
                <a:cs typeface="Lexend Medium"/>
                <a:sym typeface="Lexend Medium"/>
              </a:rPr>
              <a:t>Phi 4 mini - 3.8B</a:t>
            </a:r>
            <a:endParaRPr b="0" i="0" sz="1400">
              <a:solidFill>
                <a:srgbClr val="CBD5E1"/>
              </a:solidFill>
              <a:latin typeface="Lexend Medium"/>
              <a:ea typeface="Lexend Medium"/>
              <a:cs typeface="Lexend Medium"/>
              <a:sym typeface="Lexend Medium"/>
            </a:endParaRPr>
          </a:p>
          <a:p>
            <a:pPr indent="-317500" lvl="0" marL="457200" rtl="0" algn="l">
              <a:spcBef>
                <a:spcPts val="200"/>
              </a:spcBef>
              <a:spcAft>
                <a:spcPts val="0"/>
              </a:spcAft>
              <a:buClr>
                <a:srgbClr val="6366F1"/>
              </a:buClr>
              <a:buSzPts val="1400"/>
              <a:buFont typeface="Lexend"/>
              <a:buChar char="●"/>
            </a:pPr>
            <a:r>
              <a:rPr b="0" i="0" lang="cs" sz="1400">
                <a:solidFill>
                  <a:srgbClr val="CBD5E1"/>
                </a:solidFill>
                <a:latin typeface="Lexend Medium"/>
                <a:ea typeface="Lexend Medium"/>
                <a:cs typeface="Lexend Medium"/>
                <a:sym typeface="Lexend Medium"/>
              </a:rPr>
              <a:t>Phi 4 - 14B</a:t>
            </a:r>
            <a:endParaRPr b="0" i="0" sz="1400">
              <a:solidFill>
                <a:srgbClr val="CBD5E1"/>
              </a:solidFill>
              <a:latin typeface="Lexend Medium"/>
              <a:ea typeface="Lexend Medium"/>
              <a:cs typeface="Lexend Medium"/>
              <a:sym typeface="Lexend Medium"/>
            </a:endParaRPr>
          </a:p>
          <a:p>
            <a:pPr indent="-317500" lvl="0" marL="457200" rtl="0" algn="l">
              <a:spcBef>
                <a:spcPts val="200"/>
              </a:spcBef>
              <a:spcAft>
                <a:spcPts val="0"/>
              </a:spcAft>
              <a:buClr>
                <a:srgbClr val="6366F1"/>
              </a:buClr>
              <a:buSzPts val="1400"/>
              <a:buFont typeface="Lexend"/>
              <a:buChar char="●"/>
            </a:pPr>
            <a:r>
              <a:rPr b="0" i="0" lang="cs" sz="1400">
                <a:solidFill>
                  <a:srgbClr val="CBD5E1"/>
                </a:solidFill>
                <a:latin typeface="Lexend Medium"/>
                <a:ea typeface="Lexend Medium"/>
                <a:cs typeface="Lexend Medium"/>
                <a:sym typeface="Lexend Medium"/>
              </a:rPr>
              <a:t>Qwen 3.5 - 9B</a:t>
            </a:r>
            <a:endParaRPr b="0" i="0" sz="1400">
              <a:solidFill>
                <a:srgbClr val="CBD5E1"/>
              </a:solidFill>
              <a:latin typeface="Lexend Medium"/>
              <a:ea typeface="Lexend Medium"/>
              <a:cs typeface="Lexend Medium"/>
              <a:sym typeface="Lexend Medium"/>
            </a:endParaRPr>
          </a:p>
        </p:txBody>
      </p:sp>
      <p:sp>
        <p:nvSpPr>
          <p:cNvPr id="61" name="Google Shape;61;p14"/>
          <p:cNvSpPr txBox="1"/>
          <p:nvPr>
            <p:ph type="title"/>
          </p:nvPr>
        </p:nvSpPr>
        <p:spPr>
          <a:xfrm>
            <a:off x="311700" y="285750"/>
            <a:ext cx="85206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cs" sz="3800">
                <a:solidFill>
                  <a:schemeClr val="lt1"/>
                </a:solidFill>
                <a:latin typeface="Oswald"/>
                <a:ea typeface="Oswald"/>
                <a:cs typeface="Oswald"/>
                <a:sym typeface="Oswald"/>
              </a:rPr>
              <a:t>ENVIRONMENT</a:t>
            </a:r>
            <a:endParaRPr b="1" sz="3800">
              <a:solidFill>
                <a:srgbClr val="FFFFFF"/>
              </a:solidFill>
              <a:latin typeface="Oswald"/>
              <a:ea typeface="Oswald"/>
              <a:cs typeface="Oswald"/>
              <a:sym typeface="Oswald"/>
            </a:endParaRPr>
          </a:p>
        </p:txBody>
      </p:sp>
      <p:sp>
        <p:nvSpPr>
          <p:cNvPr id="62" name="Google Shape;62;p14"/>
          <p:cNvSpPr txBox="1"/>
          <p:nvPr/>
        </p:nvSpPr>
        <p:spPr>
          <a:xfrm>
            <a:off x="376525" y="1272450"/>
            <a:ext cx="8520600" cy="492600"/>
          </a:xfrm>
          <a:prstGeom prst="rect">
            <a:avLst/>
          </a:prstGeom>
          <a:solidFill>
            <a:srgbClr val="000000">
              <a:alpha val="0"/>
            </a:srgbClr>
          </a:solidFill>
          <a:ln>
            <a:noFill/>
          </a:ln>
        </p:spPr>
        <p:txBody>
          <a:bodyPr anchorCtr="0" anchor="ctr" bIns="0" lIns="0" spcFirstLastPara="1" rIns="0" wrap="square" tIns="0">
            <a:spAutoFit/>
          </a:bodyPr>
          <a:lstStyle/>
          <a:p>
            <a:pPr indent="-330200" lvl="0" marL="457200" rtl="0" algn="l">
              <a:spcBef>
                <a:spcPts val="0"/>
              </a:spcBef>
              <a:spcAft>
                <a:spcPts val="0"/>
              </a:spcAft>
              <a:buClr>
                <a:srgbClr val="6366F1"/>
              </a:buClr>
              <a:buSzPts val="1600"/>
              <a:buFont typeface="Inter"/>
              <a:buChar char="●"/>
            </a:pPr>
            <a:r>
              <a:rPr b="1" lang="cs" sz="1600">
                <a:solidFill>
                  <a:srgbClr val="6366F1"/>
                </a:solidFill>
                <a:latin typeface="Inter"/>
                <a:ea typeface="Inter"/>
                <a:cs typeface="Inter"/>
                <a:sym typeface="Inter"/>
              </a:rPr>
              <a:t>llama-cpp-python + .gguf models from Hugging Face (4-bit quantization)</a:t>
            </a:r>
            <a:endParaRPr b="1" sz="1600">
              <a:solidFill>
                <a:srgbClr val="6366F1"/>
              </a:solidFill>
              <a:latin typeface="Inter"/>
              <a:ea typeface="Inter"/>
              <a:cs typeface="Inter"/>
              <a:sym typeface="Inter"/>
            </a:endParaRPr>
          </a:p>
          <a:p>
            <a:pPr indent="-330200" lvl="0" marL="457200" rtl="0" algn="l">
              <a:spcBef>
                <a:spcPts val="0"/>
              </a:spcBef>
              <a:spcAft>
                <a:spcPts val="0"/>
              </a:spcAft>
              <a:buClr>
                <a:srgbClr val="6366F1"/>
              </a:buClr>
              <a:buSzPts val="1600"/>
              <a:buFont typeface="Inter"/>
              <a:buChar char="●"/>
            </a:pPr>
            <a:r>
              <a:rPr b="1" lang="cs" sz="1600">
                <a:solidFill>
                  <a:srgbClr val="6366F1"/>
                </a:solidFill>
                <a:latin typeface="Inter"/>
                <a:ea typeface="Inter"/>
                <a:cs typeface="Inter"/>
                <a:sym typeface="Inter"/>
              </a:rPr>
              <a:t>triplets used for knowledge base (KB)</a:t>
            </a:r>
            <a:endParaRPr b="1" sz="1600">
              <a:solidFill>
                <a:srgbClr val="6366F1"/>
              </a:solidFill>
              <a:latin typeface="Inter"/>
              <a:ea typeface="Inter"/>
              <a:cs typeface="Inter"/>
              <a:sym typeface="Inter"/>
            </a:endParaRPr>
          </a:p>
        </p:txBody>
      </p:sp>
      <p:sp>
        <p:nvSpPr>
          <p:cNvPr id="63" name="Google Shape;63;p14"/>
          <p:cNvSpPr txBox="1"/>
          <p:nvPr/>
        </p:nvSpPr>
        <p:spPr>
          <a:xfrm>
            <a:off x="2952328" y="1989746"/>
            <a:ext cx="4962000" cy="28272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cs" sz="2200">
                <a:solidFill>
                  <a:srgbClr val="6366F1"/>
                </a:solidFill>
                <a:latin typeface="Oswald"/>
                <a:ea typeface="Oswald"/>
                <a:cs typeface="Oswald"/>
                <a:sym typeface="Oswald"/>
              </a:rPr>
              <a:t>ACCELERATORS</a:t>
            </a:r>
            <a:endParaRPr b="1" i="0" sz="2200">
              <a:solidFill>
                <a:srgbClr val="6366F1"/>
              </a:solidFill>
              <a:latin typeface="Oswald"/>
              <a:ea typeface="Oswald"/>
              <a:cs typeface="Oswald"/>
              <a:sym typeface="Oswald"/>
            </a:endParaRPr>
          </a:p>
          <a:p>
            <a:pPr indent="-317500" lvl="0" marL="457200" rtl="0" algn="l">
              <a:spcBef>
                <a:spcPts val="800"/>
              </a:spcBef>
              <a:spcAft>
                <a:spcPts val="0"/>
              </a:spcAft>
              <a:buClr>
                <a:srgbClr val="6366F1"/>
              </a:buClr>
              <a:buSzPts val="1400"/>
              <a:buFont typeface="Lexend"/>
              <a:buChar char="●"/>
            </a:pPr>
            <a:r>
              <a:rPr lang="cs">
                <a:solidFill>
                  <a:srgbClr val="CBD5E1"/>
                </a:solidFill>
                <a:latin typeface="Lexend Medium"/>
                <a:ea typeface="Lexend Medium"/>
                <a:cs typeface="Lexend Medium"/>
                <a:sym typeface="Lexend Medium"/>
              </a:rPr>
              <a:t>GPUs:</a:t>
            </a:r>
            <a:endParaRPr b="1" sz="2200">
              <a:solidFill>
                <a:srgbClr val="6366F1"/>
              </a:solidFill>
              <a:latin typeface="Oswald"/>
              <a:ea typeface="Oswald"/>
              <a:cs typeface="Oswald"/>
              <a:sym typeface="Oswald"/>
            </a:endParaRPr>
          </a:p>
          <a:p>
            <a:pPr indent="-317500" lvl="1" marL="914400" rtl="0" algn="l">
              <a:spcBef>
                <a:spcPts val="200"/>
              </a:spcBef>
              <a:spcAft>
                <a:spcPts val="0"/>
              </a:spcAft>
              <a:buClr>
                <a:srgbClr val="6366F1"/>
              </a:buClr>
              <a:buSzPts val="1400"/>
              <a:buFont typeface="Lexend"/>
              <a:buChar char="○"/>
            </a:pPr>
            <a:r>
              <a:rPr lang="cs">
                <a:solidFill>
                  <a:srgbClr val="CBD5E1"/>
                </a:solidFill>
                <a:latin typeface="Lexend Medium"/>
                <a:ea typeface="Lexend Medium"/>
                <a:cs typeface="Lexend Medium"/>
                <a:sym typeface="Lexend Medium"/>
              </a:rPr>
              <a:t>AMD Radeon RX 9070 XT (16GB)</a:t>
            </a:r>
            <a:endParaRPr>
              <a:solidFill>
                <a:srgbClr val="CBD5E1"/>
              </a:solidFill>
              <a:latin typeface="Lexend Medium"/>
              <a:ea typeface="Lexend Medium"/>
              <a:cs typeface="Lexend Medium"/>
              <a:sym typeface="Lexend Medium"/>
            </a:endParaRPr>
          </a:p>
          <a:p>
            <a:pPr indent="-317500" lvl="1" marL="914400" rtl="0" algn="l">
              <a:spcBef>
                <a:spcPts val="200"/>
              </a:spcBef>
              <a:spcAft>
                <a:spcPts val="0"/>
              </a:spcAft>
              <a:buClr>
                <a:srgbClr val="6366F1"/>
              </a:buClr>
              <a:buSzPts val="1400"/>
              <a:buFont typeface="Lexend Medium"/>
              <a:buChar char="○"/>
            </a:pPr>
            <a:r>
              <a:rPr lang="cs">
                <a:solidFill>
                  <a:srgbClr val="CBD5E1"/>
                </a:solidFill>
                <a:latin typeface="Lexend Medium"/>
                <a:ea typeface="Lexend Medium"/>
                <a:cs typeface="Lexend Medium"/>
                <a:sym typeface="Lexend Medium"/>
              </a:rPr>
              <a:t>NVIDIA GeForce RTX 3060 (12GB)</a:t>
            </a:r>
            <a:endParaRPr>
              <a:solidFill>
                <a:srgbClr val="CBD5E1"/>
              </a:solidFill>
              <a:latin typeface="Lexend Medium"/>
              <a:ea typeface="Lexend Medium"/>
              <a:cs typeface="Lexend Medium"/>
              <a:sym typeface="Lexend Medium"/>
            </a:endParaRPr>
          </a:p>
          <a:p>
            <a:pPr indent="-317500" lvl="1" marL="914400" rtl="0" algn="l">
              <a:spcBef>
                <a:spcPts val="200"/>
              </a:spcBef>
              <a:spcAft>
                <a:spcPts val="0"/>
              </a:spcAft>
              <a:buClr>
                <a:srgbClr val="6366F1"/>
              </a:buClr>
              <a:buSzPts val="1400"/>
              <a:buFont typeface="Lexend Medium"/>
              <a:buChar char="○"/>
            </a:pPr>
            <a:r>
              <a:rPr lang="cs">
                <a:solidFill>
                  <a:srgbClr val="CBD5E1"/>
                </a:solidFill>
                <a:latin typeface="Lexend Medium"/>
                <a:ea typeface="Lexend Medium"/>
                <a:cs typeface="Lexend Medium"/>
                <a:sym typeface="Lexend Medium"/>
              </a:rPr>
              <a:t>NVIDIA GeForce RTX 4070 (8GB, Laptop)</a:t>
            </a:r>
            <a:endParaRPr>
              <a:solidFill>
                <a:srgbClr val="CBD5E1"/>
              </a:solidFill>
              <a:latin typeface="Lexend Medium"/>
              <a:ea typeface="Lexend Medium"/>
              <a:cs typeface="Lexend Medium"/>
              <a:sym typeface="Lexend Medium"/>
            </a:endParaRPr>
          </a:p>
          <a:p>
            <a:pPr indent="-317500" lvl="0" marL="457200" rtl="0" algn="l">
              <a:spcBef>
                <a:spcPts val="200"/>
              </a:spcBef>
              <a:spcAft>
                <a:spcPts val="0"/>
              </a:spcAft>
              <a:buClr>
                <a:srgbClr val="6366F1"/>
              </a:buClr>
              <a:buSzPts val="1400"/>
              <a:buFont typeface="Lexend"/>
              <a:buChar char="●"/>
            </a:pPr>
            <a:r>
              <a:rPr lang="cs">
                <a:solidFill>
                  <a:srgbClr val="CBD5E1"/>
                </a:solidFill>
                <a:latin typeface="Lexend Medium"/>
                <a:ea typeface="Lexend Medium"/>
                <a:cs typeface="Lexend Medium"/>
                <a:sym typeface="Lexend Medium"/>
              </a:rPr>
              <a:t>CPUs:</a:t>
            </a:r>
            <a:endParaRPr>
              <a:solidFill>
                <a:srgbClr val="CBD5E1"/>
              </a:solidFill>
              <a:latin typeface="Lexend Medium"/>
              <a:ea typeface="Lexend Medium"/>
              <a:cs typeface="Lexend Medium"/>
              <a:sym typeface="Lexend Medium"/>
            </a:endParaRPr>
          </a:p>
          <a:p>
            <a:pPr indent="-317500" lvl="1" marL="914400" rtl="0" algn="l">
              <a:spcBef>
                <a:spcPts val="200"/>
              </a:spcBef>
              <a:spcAft>
                <a:spcPts val="0"/>
              </a:spcAft>
              <a:buClr>
                <a:srgbClr val="6366F1"/>
              </a:buClr>
              <a:buSzPts val="1400"/>
              <a:buFont typeface="Lexend Medium"/>
              <a:buChar char="○"/>
            </a:pPr>
            <a:r>
              <a:rPr lang="cs">
                <a:solidFill>
                  <a:srgbClr val="CBD5E1"/>
                </a:solidFill>
                <a:latin typeface="Lexend Medium"/>
                <a:ea typeface="Lexend Medium"/>
                <a:cs typeface="Lexend Medium"/>
                <a:sym typeface="Lexend Medium"/>
              </a:rPr>
              <a:t>AMD Ryzen R5 7600X (32GB)</a:t>
            </a:r>
            <a:endParaRPr>
              <a:solidFill>
                <a:srgbClr val="CBD5E1"/>
              </a:solidFill>
              <a:latin typeface="Lexend Medium"/>
              <a:ea typeface="Lexend Medium"/>
              <a:cs typeface="Lexend Medium"/>
              <a:sym typeface="Lexend Medium"/>
            </a:endParaRPr>
          </a:p>
          <a:p>
            <a:pPr indent="-317500" lvl="1" marL="914400" rtl="0" algn="l">
              <a:spcBef>
                <a:spcPts val="200"/>
              </a:spcBef>
              <a:spcAft>
                <a:spcPts val="0"/>
              </a:spcAft>
              <a:buClr>
                <a:srgbClr val="6366F1"/>
              </a:buClr>
              <a:buSzPts val="1400"/>
              <a:buFont typeface="Lexend Medium"/>
              <a:buChar char="○"/>
            </a:pPr>
            <a:r>
              <a:rPr lang="cs">
                <a:solidFill>
                  <a:srgbClr val="CBD5E1"/>
                </a:solidFill>
                <a:latin typeface="Lexend Medium"/>
                <a:ea typeface="Lexend Medium"/>
                <a:cs typeface="Lexend Medium"/>
                <a:sym typeface="Lexend Medium"/>
              </a:rPr>
              <a:t>Intel core i9 14900HX (32GB)</a:t>
            </a:r>
            <a:endParaRPr>
              <a:solidFill>
                <a:srgbClr val="CBD5E1"/>
              </a:solidFill>
              <a:latin typeface="Lexend Medium"/>
              <a:ea typeface="Lexend Medium"/>
              <a:cs typeface="Lexend Medium"/>
              <a:sym typeface="Lexend Medium"/>
            </a:endParaRPr>
          </a:p>
          <a:p>
            <a:pPr indent="-317500" lvl="0" marL="457200" rtl="0" algn="l">
              <a:spcBef>
                <a:spcPts val="200"/>
              </a:spcBef>
              <a:spcAft>
                <a:spcPts val="0"/>
              </a:spcAft>
              <a:buClr>
                <a:srgbClr val="6366F1"/>
              </a:buClr>
              <a:buSzPts val="1400"/>
              <a:buFont typeface="Lexend"/>
              <a:buChar char="●"/>
            </a:pPr>
            <a:r>
              <a:rPr lang="cs">
                <a:solidFill>
                  <a:srgbClr val="CBD5E1"/>
                </a:solidFill>
                <a:latin typeface="Lexend Medium"/>
                <a:ea typeface="Lexend Medium"/>
                <a:cs typeface="Lexend Medium"/>
                <a:sym typeface="Lexend Medium"/>
              </a:rPr>
              <a:t>iGPUs:</a:t>
            </a:r>
            <a:endParaRPr>
              <a:solidFill>
                <a:srgbClr val="CBD5E1"/>
              </a:solidFill>
              <a:latin typeface="Lexend Medium"/>
              <a:ea typeface="Lexend Medium"/>
              <a:cs typeface="Lexend Medium"/>
              <a:sym typeface="Lexend Medium"/>
            </a:endParaRPr>
          </a:p>
          <a:p>
            <a:pPr indent="-317500" lvl="1" marL="914400" rtl="0" algn="l">
              <a:spcBef>
                <a:spcPts val="200"/>
              </a:spcBef>
              <a:spcAft>
                <a:spcPts val="0"/>
              </a:spcAft>
              <a:buClr>
                <a:srgbClr val="6366F1"/>
              </a:buClr>
              <a:buSzPts val="1400"/>
              <a:buFont typeface="Lexend Medium"/>
              <a:buChar char="○"/>
            </a:pPr>
            <a:r>
              <a:rPr lang="cs">
                <a:solidFill>
                  <a:srgbClr val="CBD5E1"/>
                </a:solidFill>
                <a:latin typeface="Lexend Medium"/>
                <a:ea typeface="Lexend Medium"/>
                <a:cs typeface="Lexend Medium"/>
                <a:sym typeface="Lexend Medium"/>
              </a:rPr>
              <a:t>AMD Ryzen R5 7600X iGPU (16GB)</a:t>
            </a:r>
            <a:endParaRPr>
              <a:solidFill>
                <a:srgbClr val="CBD5E1"/>
              </a:solidFill>
              <a:latin typeface="Lexend Medium"/>
              <a:ea typeface="Lexend Medium"/>
              <a:cs typeface="Lexend Medium"/>
              <a:sym typeface="Lexend Medium"/>
            </a:endParaRPr>
          </a:p>
          <a:p>
            <a:pPr indent="-317500" lvl="1" marL="914400" rtl="0" algn="l">
              <a:spcBef>
                <a:spcPts val="200"/>
              </a:spcBef>
              <a:spcAft>
                <a:spcPts val="0"/>
              </a:spcAft>
              <a:buClr>
                <a:srgbClr val="6366F1"/>
              </a:buClr>
              <a:buSzPts val="1400"/>
              <a:buFont typeface="Lexend Medium"/>
              <a:buChar char="○"/>
            </a:pPr>
            <a:r>
              <a:rPr lang="cs">
                <a:solidFill>
                  <a:srgbClr val="CBD5E1"/>
                </a:solidFill>
                <a:latin typeface="Lexend Medium"/>
                <a:ea typeface="Lexend Medium"/>
                <a:cs typeface="Lexend Medium"/>
                <a:sym typeface="Lexend Medium"/>
              </a:rPr>
              <a:t>Intel core i9 14900HX iGPU (16GB)</a:t>
            </a:r>
            <a:endParaRPr b="0" i="0" sz="1400">
              <a:solidFill>
                <a:srgbClr val="CBD5E1"/>
              </a:solidFill>
              <a:latin typeface="Lexend Medium"/>
              <a:ea typeface="Lexend Medium"/>
              <a:cs typeface="Lexend Medium"/>
              <a:sym typeface="Lexend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 name="Shape 67"/>
        <p:cNvGrpSpPr/>
        <p:nvPr/>
      </p:nvGrpSpPr>
      <p:grpSpPr>
        <a:xfrm>
          <a:off x="0" y="0"/>
          <a:ext cx="0" cy="0"/>
          <a:chOff x="0" y="0"/>
          <a:chExt cx="0" cy="0"/>
        </a:xfrm>
      </p:grpSpPr>
      <p:sp>
        <p:nvSpPr>
          <p:cNvPr id="68" name="Google Shape;68;p15"/>
          <p:cNvSpPr txBox="1"/>
          <p:nvPr/>
        </p:nvSpPr>
        <p:spPr>
          <a:xfrm>
            <a:off x="311700" y="1047750"/>
            <a:ext cx="8344500" cy="2435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cs" sz="2200">
                <a:solidFill>
                  <a:srgbClr val="6366F1"/>
                </a:solidFill>
                <a:latin typeface="Oswald"/>
                <a:ea typeface="Oswald"/>
                <a:cs typeface="Oswald"/>
                <a:sym typeface="Oswald"/>
              </a:rPr>
              <a:t>GOALS</a:t>
            </a:r>
            <a:endParaRPr b="1" sz="2200">
              <a:solidFill>
                <a:srgbClr val="6366F1"/>
              </a:solidFill>
              <a:latin typeface="Oswald"/>
              <a:ea typeface="Oswald"/>
              <a:cs typeface="Oswald"/>
              <a:sym typeface="Oswald"/>
            </a:endParaRPr>
          </a:p>
          <a:p>
            <a:pPr indent="-330200" lvl="0" marL="457200" rtl="0" algn="l">
              <a:lnSpc>
                <a:spcPct val="150000"/>
              </a:lnSpc>
              <a:spcBef>
                <a:spcPts val="1125"/>
              </a:spcBef>
              <a:spcAft>
                <a:spcPts val="0"/>
              </a:spcAft>
              <a:buClr>
                <a:srgbClr val="6366F1"/>
              </a:buClr>
              <a:buSzPts val="1600"/>
              <a:buFont typeface="Lexend Medium"/>
              <a:buChar char="●"/>
            </a:pPr>
            <a:r>
              <a:rPr lang="cs" sz="1600">
                <a:solidFill>
                  <a:srgbClr val="CBD5E1"/>
                </a:solidFill>
                <a:latin typeface="Lexend Medium"/>
                <a:ea typeface="Lexend Medium"/>
                <a:cs typeface="Lexend Medium"/>
                <a:sym typeface="Lexend Medium"/>
              </a:rPr>
              <a:t>Response delay (ttft): ideal &lt;= 300 ms, enough &lt;= 800 ms</a:t>
            </a:r>
            <a:endParaRPr sz="1600">
              <a:solidFill>
                <a:srgbClr val="CBD5E1"/>
              </a:solidFill>
              <a:latin typeface="Lexend Medium"/>
              <a:ea typeface="Lexend Medium"/>
              <a:cs typeface="Lexend Medium"/>
              <a:sym typeface="Lexend Medium"/>
            </a:endParaRPr>
          </a:p>
          <a:p>
            <a:pPr indent="-330200" lvl="0" marL="457200" rtl="0" algn="l">
              <a:lnSpc>
                <a:spcPct val="150000"/>
              </a:lnSpc>
              <a:spcBef>
                <a:spcPts val="0"/>
              </a:spcBef>
              <a:spcAft>
                <a:spcPts val="0"/>
              </a:spcAft>
              <a:buClr>
                <a:srgbClr val="6366F1"/>
              </a:buClr>
              <a:buSzPts val="1600"/>
              <a:buFont typeface="Lexend Medium"/>
              <a:buChar char="●"/>
            </a:pPr>
            <a:r>
              <a:rPr lang="cs" sz="1600">
                <a:solidFill>
                  <a:srgbClr val="CBD5E1"/>
                </a:solidFill>
                <a:latin typeface="Lexend Medium"/>
                <a:ea typeface="Lexend Medium"/>
                <a:cs typeface="Lexend Medium"/>
                <a:sym typeface="Lexend Medium"/>
              </a:rPr>
              <a:t>Generation throughput (tokens/</a:t>
            </a:r>
            <a:r>
              <a:rPr lang="cs" sz="1600">
                <a:solidFill>
                  <a:srgbClr val="CBD5E1"/>
                </a:solidFill>
                <a:latin typeface="Lexend Medium"/>
                <a:ea typeface="Lexend Medium"/>
                <a:cs typeface="Lexend Medium"/>
                <a:sym typeface="Lexend Medium"/>
              </a:rPr>
              <a:t>second</a:t>
            </a:r>
            <a:r>
              <a:rPr lang="cs" sz="1600">
                <a:solidFill>
                  <a:srgbClr val="CBD5E1"/>
                </a:solidFill>
                <a:latin typeface="Lexend Medium"/>
                <a:ea typeface="Lexend Medium"/>
                <a:cs typeface="Lexend Medium"/>
                <a:sym typeface="Lexend Medium"/>
              </a:rPr>
              <a:t>): ideal &gt;= 18, enough &gt;= 6</a:t>
            </a:r>
            <a:endParaRPr>
              <a:solidFill>
                <a:srgbClr val="CBD5E1"/>
              </a:solidFill>
              <a:latin typeface="Inter"/>
              <a:ea typeface="Inter"/>
              <a:cs typeface="Inter"/>
              <a:sym typeface="Inter"/>
            </a:endParaRPr>
          </a:p>
          <a:p>
            <a:pPr indent="0" lvl="0" marL="0" rtl="0" algn="l">
              <a:spcBef>
                <a:spcPts val="900"/>
              </a:spcBef>
              <a:spcAft>
                <a:spcPts val="0"/>
              </a:spcAft>
              <a:buNone/>
            </a:pPr>
            <a:r>
              <a:rPr b="1" lang="cs" sz="2200">
                <a:solidFill>
                  <a:srgbClr val="6366F1"/>
                </a:solidFill>
                <a:latin typeface="Oswald"/>
                <a:ea typeface="Oswald"/>
                <a:cs typeface="Oswald"/>
                <a:sym typeface="Oswald"/>
              </a:rPr>
              <a:t>METHODOLOGY</a:t>
            </a:r>
            <a:endParaRPr>
              <a:solidFill>
                <a:srgbClr val="CBD5E1"/>
              </a:solidFill>
              <a:latin typeface="Inter"/>
              <a:ea typeface="Inter"/>
              <a:cs typeface="Inter"/>
              <a:sym typeface="Inter"/>
            </a:endParaRPr>
          </a:p>
          <a:p>
            <a:pPr indent="-330200" lvl="0" marL="457200" rtl="0" algn="l">
              <a:lnSpc>
                <a:spcPct val="150000"/>
              </a:lnSpc>
              <a:spcBef>
                <a:spcPts val="1125"/>
              </a:spcBef>
              <a:spcAft>
                <a:spcPts val="0"/>
              </a:spcAft>
              <a:buClr>
                <a:srgbClr val="6366F1"/>
              </a:buClr>
              <a:buSzPts val="1600"/>
              <a:buFont typeface="Lexend Medium"/>
              <a:buChar char="●"/>
            </a:pPr>
            <a:r>
              <a:rPr lang="cs" sz="1600">
                <a:solidFill>
                  <a:srgbClr val="CBD5E1"/>
                </a:solidFill>
                <a:latin typeface="Lexend Medium"/>
                <a:ea typeface="Lexend Medium"/>
                <a:cs typeface="Lexend Medium"/>
                <a:sym typeface="Lexend Medium"/>
              </a:rPr>
              <a:t>5 short prompts (10-22 tokens, 6-10 words)</a:t>
            </a:r>
            <a:endParaRPr sz="1600">
              <a:solidFill>
                <a:srgbClr val="CBD5E1"/>
              </a:solidFill>
              <a:latin typeface="Lexend Medium"/>
              <a:ea typeface="Lexend Medium"/>
              <a:cs typeface="Lexend Medium"/>
              <a:sym typeface="Lexend Medium"/>
            </a:endParaRPr>
          </a:p>
          <a:p>
            <a:pPr indent="-317500" lvl="0" marL="457200" rtl="0" algn="l">
              <a:lnSpc>
                <a:spcPct val="150000"/>
              </a:lnSpc>
              <a:spcBef>
                <a:spcPts val="0"/>
              </a:spcBef>
              <a:spcAft>
                <a:spcPts val="0"/>
              </a:spcAft>
              <a:buClr>
                <a:srgbClr val="6366F1"/>
              </a:buClr>
              <a:buSzPts val="1400"/>
              <a:buFont typeface="Lexend Medium"/>
              <a:buChar char="●"/>
            </a:pPr>
            <a:r>
              <a:rPr lang="cs" sz="1600">
                <a:solidFill>
                  <a:srgbClr val="CBD5E1"/>
                </a:solidFill>
                <a:latin typeface="Lexend Medium"/>
                <a:ea typeface="Lexend Medium"/>
                <a:cs typeface="Lexend Medium"/>
                <a:sym typeface="Lexend Medium"/>
              </a:rPr>
              <a:t>5 long prompts (52-71 tokens, 47-52 words)</a:t>
            </a:r>
            <a:endParaRPr>
              <a:solidFill>
                <a:srgbClr val="CBD5E1"/>
              </a:solidFill>
              <a:latin typeface="Inter"/>
              <a:ea typeface="Inter"/>
              <a:cs typeface="Inter"/>
              <a:sym typeface="Inter"/>
            </a:endParaRPr>
          </a:p>
        </p:txBody>
      </p:sp>
      <p:sp>
        <p:nvSpPr>
          <p:cNvPr id="69" name="Google Shape;69;p15"/>
          <p:cNvSpPr txBox="1"/>
          <p:nvPr>
            <p:ph type="title"/>
          </p:nvPr>
        </p:nvSpPr>
        <p:spPr>
          <a:xfrm>
            <a:off x="311700" y="285750"/>
            <a:ext cx="85206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cs" sz="3800">
                <a:solidFill>
                  <a:srgbClr val="FFFFFF"/>
                </a:solidFill>
                <a:latin typeface="Oswald"/>
                <a:ea typeface="Oswald"/>
                <a:cs typeface="Oswald"/>
                <a:sym typeface="Oswald"/>
              </a:rPr>
              <a:t>PERFORMANCE</a:t>
            </a:r>
            <a:endParaRPr b="1" sz="3800">
              <a:solidFill>
                <a:srgbClr val="FFFFFF"/>
              </a:solidFill>
              <a:latin typeface="Oswald"/>
              <a:ea typeface="Oswald"/>
              <a:cs typeface="Oswald"/>
              <a:sym typeface="Oswa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pic>
        <p:nvPicPr>
          <p:cNvPr id="74" name="Google Shape;74;p16" title="ttft_s.png"/>
          <p:cNvPicPr preferRelativeResize="0"/>
          <p:nvPr/>
        </p:nvPicPr>
        <p:blipFill>
          <a:blip r:embed="rId4">
            <a:alphaModFix/>
          </a:blip>
          <a:stretch>
            <a:fillRect/>
          </a:stretch>
        </p:blipFill>
        <p:spPr>
          <a:xfrm>
            <a:off x="152400" y="152400"/>
            <a:ext cx="8602138" cy="483870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 name="Shape 78"/>
        <p:cNvGrpSpPr/>
        <p:nvPr/>
      </p:nvGrpSpPr>
      <p:grpSpPr>
        <a:xfrm>
          <a:off x="0" y="0"/>
          <a:ext cx="0" cy="0"/>
          <a:chOff x="0" y="0"/>
          <a:chExt cx="0" cy="0"/>
        </a:xfrm>
      </p:grpSpPr>
      <p:pic>
        <p:nvPicPr>
          <p:cNvPr id="79" name="Google Shape;79;p17" title="ttft_l.png"/>
          <p:cNvPicPr preferRelativeResize="0"/>
          <p:nvPr/>
        </p:nvPicPr>
        <p:blipFill>
          <a:blip r:embed="rId4">
            <a:alphaModFix/>
          </a:blip>
          <a:stretch>
            <a:fillRect/>
          </a:stretch>
        </p:blipFill>
        <p:spPr>
          <a:xfrm>
            <a:off x="152400" y="152400"/>
            <a:ext cx="8602138" cy="48387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pic>
        <p:nvPicPr>
          <p:cNvPr id="84" name="Google Shape;84;p18" title="ts.png"/>
          <p:cNvPicPr preferRelativeResize="0"/>
          <p:nvPr/>
        </p:nvPicPr>
        <p:blipFill>
          <a:blip r:embed="rId4">
            <a:alphaModFix/>
          </a:blip>
          <a:stretch>
            <a:fillRect/>
          </a:stretch>
        </p:blipFill>
        <p:spPr>
          <a:xfrm>
            <a:off x="152400" y="152400"/>
            <a:ext cx="8602138" cy="483870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pic>
        <p:nvPicPr>
          <p:cNvPr id="89" name="Google Shape;89;p19" title="perf_status.png"/>
          <p:cNvPicPr preferRelativeResize="0"/>
          <p:nvPr/>
        </p:nvPicPr>
        <p:blipFill>
          <a:blip r:embed="rId4">
            <a:alphaModFix/>
          </a:blip>
          <a:stretch>
            <a:fillRect/>
          </a:stretch>
        </p:blipFill>
        <p:spPr>
          <a:xfrm>
            <a:off x="152400" y="152400"/>
            <a:ext cx="8602138" cy="483870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 name="Shape 93"/>
        <p:cNvGrpSpPr/>
        <p:nvPr/>
      </p:nvGrpSpPr>
      <p:grpSpPr>
        <a:xfrm>
          <a:off x="0" y="0"/>
          <a:ext cx="0" cy="0"/>
          <a:chOff x="0" y="0"/>
          <a:chExt cx="0" cy="0"/>
        </a:xfrm>
      </p:grpSpPr>
      <p:sp>
        <p:nvSpPr>
          <p:cNvPr id="94" name="Google Shape;94;p20"/>
          <p:cNvSpPr txBox="1"/>
          <p:nvPr/>
        </p:nvSpPr>
        <p:spPr>
          <a:xfrm>
            <a:off x="311700" y="1047750"/>
            <a:ext cx="8344500" cy="359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cs" sz="2200">
                <a:solidFill>
                  <a:srgbClr val="6366F1"/>
                </a:solidFill>
                <a:latin typeface="Oswald"/>
                <a:ea typeface="Oswald"/>
                <a:cs typeface="Oswald"/>
                <a:sym typeface="Oswald"/>
              </a:rPr>
              <a:t>GOALS</a:t>
            </a:r>
            <a:endParaRPr b="1" sz="2200">
              <a:solidFill>
                <a:srgbClr val="6366F1"/>
              </a:solidFill>
              <a:latin typeface="Oswald"/>
              <a:ea typeface="Oswald"/>
              <a:cs typeface="Oswald"/>
              <a:sym typeface="Oswald"/>
            </a:endParaRPr>
          </a:p>
          <a:p>
            <a:pPr indent="-330200" lvl="0" marL="457200" rtl="0" algn="l">
              <a:lnSpc>
                <a:spcPct val="150000"/>
              </a:lnSpc>
              <a:spcBef>
                <a:spcPts val="1125"/>
              </a:spcBef>
              <a:spcAft>
                <a:spcPts val="0"/>
              </a:spcAft>
              <a:buClr>
                <a:srgbClr val="6366F1"/>
              </a:buClr>
              <a:buSzPts val="1600"/>
              <a:buFont typeface="Lexend Medium"/>
              <a:buChar char="●"/>
            </a:pPr>
            <a:r>
              <a:rPr lang="cs" sz="1600">
                <a:solidFill>
                  <a:srgbClr val="CBD5E1"/>
                </a:solidFill>
                <a:latin typeface="Lexend Medium"/>
                <a:ea typeface="Lexend Medium"/>
                <a:cs typeface="Lexend Medium"/>
                <a:sym typeface="Lexend Medium"/>
              </a:rPr>
              <a:t>NPC stays in character</a:t>
            </a:r>
            <a:endParaRPr sz="1600">
              <a:solidFill>
                <a:srgbClr val="CBD5E1"/>
              </a:solidFill>
              <a:latin typeface="Lexend Medium"/>
              <a:ea typeface="Lexend Medium"/>
              <a:cs typeface="Lexend Medium"/>
              <a:sym typeface="Lexend Medium"/>
            </a:endParaRPr>
          </a:p>
          <a:p>
            <a:pPr indent="-330200" lvl="0" marL="457200" rtl="0" algn="l">
              <a:lnSpc>
                <a:spcPct val="150000"/>
              </a:lnSpc>
              <a:spcBef>
                <a:spcPts val="0"/>
              </a:spcBef>
              <a:spcAft>
                <a:spcPts val="0"/>
              </a:spcAft>
              <a:buClr>
                <a:srgbClr val="6366F1"/>
              </a:buClr>
              <a:buSzPts val="1600"/>
              <a:buFont typeface="Lexend Medium"/>
              <a:buChar char="●"/>
            </a:pPr>
            <a:r>
              <a:rPr lang="cs" sz="1600">
                <a:solidFill>
                  <a:srgbClr val="CBD5E1"/>
                </a:solidFill>
                <a:latin typeface="Lexend Medium"/>
                <a:ea typeface="Lexend Medium"/>
                <a:cs typeface="Lexend Medium"/>
                <a:sym typeface="Lexend Medium"/>
              </a:rPr>
              <a:t>NPC does NOT leak its KB (or secrets) </a:t>
            </a:r>
            <a:endParaRPr sz="1600">
              <a:solidFill>
                <a:srgbClr val="CBD5E1"/>
              </a:solidFill>
              <a:latin typeface="Lexend Medium"/>
              <a:ea typeface="Lexend Medium"/>
              <a:cs typeface="Lexend Medium"/>
              <a:sym typeface="Lexend Medium"/>
            </a:endParaRPr>
          </a:p>
          <a:p>
            <a:pPr indent="-330200" lvl="0" marL="457200" rtl="0" algn="l">
              <a:lnSpc>
                <a:spcPct val="150000"/>
              </a:lnSpc>
              <a:spcBef>
                <a:spcPts val="0"/>
              </a:spcBef>
              <a:spcAft>
                <a:spcPts val="0"/>
              </a:spcAft>
              <a:buClr>
                <a:srgbClr val="6366F1"/>
              </a:buClr>
              <a:buSzPts val="1600"/>
              <a:buFont typeface="Lexend Medium"/>
              <a:buChar char="●"/>
            </a:pPr>
            <a:r>
              <a:rPr lang="cs" sz="1600">
                <a:solidFill>
                  <a:srgbClr val="CBD5E1"/>
                </a:solidFill>
                <a:latin typeface="Lexend Medium"/>
                <a:ea typeface="Lexend Medium"/>
                <a:cs typeface="Lexend Medium"/>
                <a:sym typeface="Lexend Medium"/>
              </a:rPr>
              <a:t>NPC does NOT disobey its system prompt</a:t>
            </a:r>
            <a:endParaRPr sz="1600">
              <a:solidFill>
                <a:srgbClr val="CBD5E1"/>
              </a:solidFill>
              <a:latin typeface="Lexend Medium"/>
              <a:ea typeface="Lexend Medium"/>
              <a:cs typeface="Lexend Medium"/>
              <a:sym typeface="Lexend Medium"/>
            </a:endParaRPr>
          </a:p>
          <a:p>
            <a:pPr indent="0" lvl="0" marL="0" rtl="0" algn="l">
              <a:spcBef>
                <a:spcPts val="900"/>
              </a:spcBef>
              <a:spcAft>
                <a:spcPts val="0"/>
              </a:spcAft>
              <a:buNone/>
            </a:pPr>
            <a:r>
              <a:t/>
            </a:r>
            <a:endParaRPr>
              <a:solidFill>
                <a:srgbClr val="CBD5E1"/>
              </a:solidFill>
              <a:latin typeface="Inter"/>
              <a:ea typeface="Inter"/>
              <a:cs typeface="Inter"/>
              <a:sym typeface="Inter"/>
            </a:endParaRPr>
          </a:p>
          <a:p>
            <a:pPr indent="0" lvl="0" marL="0" rtl="0" algn="l">
              <a:spcBef>
                <a:spcPts val="900"/>
              </a:spcBef>
              <a:spcAft>
                <a:spcPts val="0"/>
              </a:spcAft>
              <a:buClr>
                <a:schemeClr val="dk1"/>
              </a:buClr>
              <a:buSzPts val="1100"/>
              <a:buFont typeface="Arial"/>
              <a:buNone/>
            </a:pPr>
            <a:r>
              <a:rPr b="1" lang="cs" sz="2200">
                <a:solidFill>
                  <a:srgbClr val="6366F1"/>
                </a:solidFill>
                <a:latin typeface="Oswald"/>
                <a:ea typeface="Oswald"/>
                <a:cs typeface="Oswald"/>
                <a:sym typeface="Oswald"/>
              </a:rPr>
              <a:t>METHODOLOGY</a:t>
            </a:r>
            <a:endParaRPr b="1" sz="2200">
              <a:solidFill>
                <a:srgbClr val="6366F1"/>
              </a:solidFill>
              <a:latin typeface="Oswald"/>
              <a:ea typeface="Oswald"/>
              <a:cs typeface="Oswald"/>
              <a:sym typeface="Oswald"/>
            </a:endParaRPr>
          </a:p>
          <a:p>
            <a:pPr indent="-330200" lvl="0" marL="457200" rtl="0" algn="l">
              <a:lnSpc>
                <a:spcPct val="150000"/>
              </a:lnSpc>
              <a:spcBef>
                <a:spcPts val="1125"/>
              </a:spcBef>
              <a:spcAft>
                <a:spcPts val="0"/>
              </a:spcAft>
              <a:buClr>
                <a:srgbClr val="6366F1"/>
              </a:buClr>
              <a:buSzPts val="1600"/>
              <a:buFont typeface="Lexend Medium"/>
              <a:buChar char="●"/>
            </a:pPr>
            <a:r>
              <a:rPr lang="cs" sz="1600">
                <a:solidFill>
                  <a:srgbClr val="CBD5E1"/>
                </a:solidFill>
                <a:latin typeface="Lexend Medium"/>
                <a:ea typeface="Lexend Medium"/>
                <a:cs typeface="Lexend Medium"/>
                <a:sym typeface="Lexend Medium"/>
              </a:rPr>
              <a:t>Identify jailbreaking strategies (10 types of jailbreaks)</a:t>
            </a:r>
            <a:endParaRPr sz="1600">
              <a:solidFill>
                <a:srgbClr val="CBD5E1"/>
              </a:solidFill>
              <a:latin typeface="Lexend Medium"/>
              <a:ea typeface="Lexend Medium"/>
              <a:cs typeface="Lexend Medium"/>
              <a:sym typeface="Lexend Medium"/>
            </a:endParaRPr>
          </a:p>
          <a:p>
            <a:pPr indent="-330200" lvl="0" marL="457200" rtl="0" algn="l">
              <a:lnSpc>
                <a:spcPct val="150000"/>
              </a:lnSpc>
              <a:spcBef>
                <a:spcPts val="0"/>
              </a:spcBef>
              <a:spcAft>
                <a:spcPts val="0"/>
              </a:spcAft>
              <a:buClr>
                <a:srgbClr val="6366F1"/>
              </a:buClr>
              <a:buSzPts val="1600"/>
              <a:buFont typeface="Lexend Medium"/>
              <a:buChar char="●"/>
            </a:pPr>
            <a:r>
              <a:rPr lang="cs" sz="1600">
                <a:solidFill>
                  <a:srgbClr val="CBD5E1"/>
                </a:solidFill>
                <a:latin typeface="Lexend Medium"/>
                <a:ea typeface="Lexend Medium"/>
                <a:cs typeface="Lexend Medium"/>
                <a:sym typeface="Lexend Medium"/>
              </a:rPr>
              <a:t>Measure their effectiveness (across models, across NPC personas) - processed by DeepSeek</a:t>
            </a:r>
            <a:endParaRPr sz="1600">
              <a:solidFill>
                <a:srgbClr val="CBD5E1"/>
              </a:solidFill>
              <a:latin typeface="Lexend Medium"/>
              <a:ea typeface="Lexend Medium"/>
              <a:cs typeface="Lexend Medium"/>
              <a:sym typeface="Lexend Medium"/>
            </a:endParaRPr>
          </a:p>
        </p:txBody>
      </p:sp>
      <p:sp>
        <p:nvSpPr>
          <p:cNvPr id="95" name="Google Shape;95;p20"/>
          <p:cNvSpPr txBox="1"/>
          <p:nvPr>
            <p:ph type="title"/>
          </p:nvPr>
        </p:nvSpPr>
        <p:spPr>
          <a:xfrm>
            <a:off x="311700" y="285750"/>
            <a:ext cx="85206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cs" sz="3800">
                <a:solidFill>
                  <a:srgbClr val="FFFFFF"/>
                </a:solidFill>
                <a:latin typeface="Oswald"/>
                <a:ea typeface="Oswald"/>
                <a:cs typeface="Oswald"/>
                <a:sym typeface="Oswald"/>
              </a:rPr>
              <a:t>JAILBREAK TESTING</a:t>
            </a:r>
            <a:endParaRPr b="1" sz="3800">
              <a:solidFill>
                <a:srgbClr val="FFFFFF"/>
              </a:solidFill>
              <a:latin typeface="Oswald"/>
              <a:ea typeface="Oswald"/>
              <a:cs typeface="Oswald"/>
              <a:sym typeface="Oswa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9" name="Shape 99"/>
        <p:cNvGrpSpPr/>
        <p:nvPr/>
      </p:nvGrpSpPr>
      <p:grpSpPr>
        <a:xfrm>
          <a:off x="0" y="0"/>
          <a:ext cx="0" cy="0"/>
          <a:chOff x="0" y="0"/>
          <a:chExt cx="0" cy="0"/>
        </a:xfrm>
      </p:grpSpPr>
      <p:pic>
        <p:nvPicPr>
          <p:cNvPr id="100" name="Google Shape;100;p21" title="martin_bar.png"/>
          <p:cNvPicPr preferRelativeResize="0"/>
          <p:nvPr/>
        </p:nvPicPr>
        <p:blipFill>
          <a:blip r:embed="rId4">
            <a:alphaModFix/>
          </a:blip>
          <a:stretch>
            <a:fillRect/>
          </a:stretch>
        </p:blipFill>
        <p:spPr>
          <a:xfrm>
            <a:off x="152400" y="152400"/>
            <a:ext cx="8469796" cy="483870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4" name="Shape 104"/>
        <p:cNvGrpSpPr/>
        <p:nvPr/>
      </p:nvGrpSpPr>
      <p:grpSpPr>
        <a:xfrm>
          <a:off x="0" y="0"/>
          <a:ext cx="0" cy="0"/>
          <a:chOff x="0" y="0"/>
          <a:chExt cx="0" cy="0"/>
        </a:xfrm>
      </p:grpSpPr>
      <p:pic>
        <p:nvPicPr>
          <p:cNvPr id="105" name="Google Shape;105;p22" title="martin_jsr.png"/>
          <p:cNvPicPr preferRelativeResize="0"/>
          <p:nvPr/>
        </p:nvPicPr>
        <p:blipFill>
          <a:blip r:embed="rId4">
            <a:alphaModFix/>
          </a:blip>
          <a:stretch>
            <a:fillRect/>
          </a:stretch>
        </p:blipFill>
        <p:spPr>
          <a:xfrm>
            <a:off x="152400" y="152400"/>
            <a:ext cx="8602138" cy="483870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23"/>
          <p:cNvSpPr txBox="1"/>
          <p:nvPr/>
        </p:nvSpPr>
        <p:spPr>
          <a:xfrm>
            <a:off x="311700" y="1047750"/>
            <a:ext cx="8344500" cy="3236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cs" sz="2200">
                <a:solidFill>
                  <a:srgbClr val="6366F1"/>
                </a:solidFill>
                <a:latin typeface="Oswald"/>
                <a:ea typeface="Oswald"/>
                <a:cs typeface="Oswald"/>
                <a:sym typeface="Oswald"/>
              </a:rPr>
              <a:t>GOALS</a:t>
            </a:r>
            <a:endParaRPr b="1" sz="2200">
              <a:solidFill>
                <a:srgbClr val="6366F1"/>
              </a:solidFill>
              <a:latin typeface="Oswald"/>
              <a:ea typeface="Oswald"/>
              <a:cs typeface="Oswald"/>
              <a:sym typeface="Oswald"/>
            </a:endParaRPr>
          </a:p>
          <a:p>
            <a:pPr indent="-317500" lvl="0" marL="457200" rtl="0" algn="l">
              <a:lnSpc>
                <a:spcPct val="150000"/>
              </a:lnSpc>
              <a:spcBef>
                <a:spcPts val="1125"/>
              </a:spcBef>
              <a:spcAft>
                <a:spcPts val="0"/>
              </a:spcAft>
              <a:buClr>
                <a:srgbClr val="6366F1"/>
              </a:buClr>
              <a:buSzPts val="1400"/>
              <a:buFont typeface="Lexend Medium"/>
              <a:buChar char="●"/>
            </a:pPr>
            <a:r>
              <a:rPr lang="cs">
                <a:solidFill>
                  <a:schemeClr val="lt2"/>
                </a:solidFill>
                <a:latin typeface="Lexend"/>
                <a:ea typeface="Lexend"/>
                <a:cs typeface="Lexend"/>
                <a:sym typeface="Lexend"/>
              </a:rPr>
              <a:t>Staying within a fictional lore without hallucinating</a:t>
            </a:r>
            <a:endParaRPr>
              <a:solidFill>
                <a:schemeClr val="lt2"/>
              </a:solidFill>
              <a:latin typeface="Lexend"/>
              <a:ea typeface="Lexend"/>
              <a:cs typeface="Lexend"/>
              <a:sym typeface="Lexend"/>
            </a:endParaRPr>
          </a:p>
          <a:p>
            <a:pPr indent="-317500" lvl="0" marL="457200" rtl="0" algn="l">
              <a:lnSpc>
                <a:spcPct val="150000"/>
              </a:lnSpc>
              <a:spcBef>
                <a:spcPts val="0"/>
              </a:spcBef>
              <a:spcAft>
                <a:spcPts val="0"/>
              </a:spcAft>
              <a:buClr>
                <a:srgbClr val="6366F1"/>
              </a:buClr>
              <a:buSzPts val="1400"/>
              <a:buFont typeface="Lexend Medium"/>
              <a:buChar char="●"/>
            </a:pPr>
            <a:r>
              <a:rPr lang="cs">
                <a:solidFill>
                  <a:schemeClr val="lt2"/>
                </a:solidFill>
                <a:latin typeface="Lexend"/>
                <a:ea typeface="Lexend"/>
                <a:cs typeface="Lexend"/>
                <a:sym typeface="Lexend"/>
              </a:rPr>
              <a:t>Handling internal conflicts and paradoxes</a:t>
            </a:r>
            <a:endParaRPr>
              <a:solidFill>
                <a:schemeClr val="lt2"/>
              </a:solidFill>
              <a:latin typeface="Lexend"/>
              <a:ea typeface="Lexend"/>
              <a:cs typeface="Lexend"/>
              <a:sym typeface="Lexend"/>
            </a:endParaRPr>
          </a:p>
          <a:p>
            <a:pPr indent="-317500" lvl="0" marL="457200" rtl="0" algn="l">
              <a:lnSpc>
                <a:spcPct val="150000"/>
              </a:lnSpc>
              <a:spcBef>
                <a:spcPts val="0"/>
              </a:spcBef>
              <a:spcAft>
                <a:spcPts val="0"/>
              </a:spcAft>
              <a:buClr>
                <a:srgbClr val="6366F1"/>
              </a:buClr>
              <a:buSzPts val="1400"/>
              <a:buFont typeface="Lexend Medium"/>
              <a:buChar char="●"/>
            </a:pPr>
            <a:r>
              <a:rPr lang="cs">
                <a:solidFill>
                  <a:schemeClr val="lt2"/>
                </a:solidFill>
                <a:latin typeface="Lexend"/>
                <a:ea typeface="Lexend"/>
                <a:cs typeface="Lexend"/>
                <a:sym typeface="Lexend"/>
              </a:rPr>
              <a:t>Prioritizing custom facts over massive real-world training data</a:t>
            </a:r>
            <a:endParaRPr>
              <a:solidFill>
                <a:schemeClr val="lt2"/>
              </a:solidFill>
              <a:latin typeface="Lexend Medium"/>
              <a:ea typeface="Lexend Medium"/>
              <a:cs typeface="Lexend Medium"/>
              <a:sym typeface="Lexend Medium"/>
            </a:endParaRPr>
          </a:p>
          <a:p>
            <a:pPr indent="0" lvl="0" marL="0" rtl="0" algn="l">
              <a:spcBef>
                <a:spcPts val="900"/>
              </a:spcBef>
              <a:spcAft>
                <a:spcPts val="0"/>
              </a:spcAft>
              <a:buNone/>
            </a:pPr>
            <a:r>
              <a:rPr b="1" lang="cs" sz="2200">
                <a:solidFill>
                  <a:srgbClr val="6366F1"/>
                </a:solidFill>
                <a:latin typeface="Oswald"/>
                <a:ea typeface="Oswald"/>
                <a:cs typeface="Oswald"/>
                <a:sym typeface="Oswald"/>
              </a:rPr>
              <a:t>METHODOLOGY</a:t>
            </a:r>
            <a:endParaRPr b="1" sz="2200">
              <a:solidFill>
                <a:srgbClr val="6366F1"/>
              </a:solidFill>
              <a:latin typeface="Oswald"/>
              <a:ea typeface="Oswald"/>
              <a:cs typeface="Oswald"/>
              <a:sym typeface="Oswald"/>
            </a:endParaRPr>
          </a:p>
          <a:p>
            <a:pPr indent="-317500" lvl="0" marL="457200" rtl="0" algn="l">
              <a:lnSpc>
                <a:spcPct val="150000"/>
              </a:lnSpc>
              <a:spcBef>
                <a:spcPts val="1125"/>
              </a:spcBef>
              <a:spcAft>
                <a:spcPts val="0"/>
              </a:spcAft>
              <a:buClr>
                <a:srgbClr val="6366F1"/>
              </a:buClr>
              <a:buSzPts val="1400"/>
              <a:buFont typeface="Lexend Medium"/>
              <a:buChar char="●"/>
            </a:pPr>
            <a:r>
              <a:rPr lang="cs">
                <a:solidFill>
                  <a:schemeClr val="lt2"/>
                </a:solidFill>
                <a:latin typeface="Lexend Medium"/>
                <a:ea typeface="Lexend Medium"/>
                <a:cs typeface="Lexend Medium"/>
                <a:sym typeface="Lexend Medium"/>
              </a:rPr>
              <a:t>Baseline (hallucination)</a:t>
            </a:r>
            <a:endParaRPr>
              <a:solidFill>
                <a:schemeClr val="lt2"/>
              </a:solidFill>
              <a:latin typeface="Lexend Medium"/>
              <a:ea typeface="Lexend Medium"/>
              <a:cs typeface="Lexend Medium"/>
              <a:sym typeface="Lexend Medium"/>
            </a:endParaRPr>
          </a:p>
          <a:p>
            <a:pPr indent="-317500" lvl="0" marL="457200" rtl="0" algn="l">
              <a:lnSpc>
                <a:spcPct val="150000"/>
              </a:lnSpc>
              <a:spcBef>
                <a:spcPts val="0"/>
              </a:spcBef>
              <a:spcAft>
                <a:spcPts val="0"/>
              </a:spcAft>
              <a:buClr>
                <a:srgbClr val="6366F1"/>
              </a:buClr>
              <a:buSzPts val="1400"/>
              <a:buFont typeface="Lexend Medium"/>
              <a:buChar char="●"/>
            </a:pPr>
            <a:r>
              <a:rPr lang="cs">
                <a:solidFill>
                  <a:schemeClr val="lt2"/>
                </a:solidFill>
                <a:latin typeface="Lexend Medium"/>
                <a:ea typeface="Lexend Medium"/>
                <a:cs typeface="Lexend Medium"/>
                <a:sym typeface="Lexend Medium"/>
              </a:rPr>
              <a:t>Conflict </a:t>
            </a:r>
            <a:r>
              <a:rPr lang="cs">
                <a:solidFill>
                  <a:schemeClr val="lt2"/>
                </a:solidFill>
                <a:latin typeface="Lexend Medium"/>
                <a:ea typeface="Lexend Medium"/>
                <a:cs typeface="Lexend Medium"/>
                <a:sym typeface="Lexend Medium"/>
              </a:rPr>
              <a:t>(loves King vs. wants to kill King)</a:t>
            </a:r>
            <a:endParaRPr>
              <a:solidFill>
                <a:schemeClr val="lt2"/>
              </a:solidFill>
              <a:latin typeface="Lexend Medium"/>
              <a:ea typeface="Lexend Medium"/>
              <a:cs typeface="Lexend Medium"/>
              <a:sym typeface="Lexend Medium"/>
            </a:endParaRPr>
          </a:p>
          <a:p>
            <a:pPr indent="-317500" lvl="0" marL="457200" rtl="0" algn="l">
              <a:lnSpc>
                <a:spcPct val="150000"/>
              </a:lnSpc>
              <a:spcBef>
                <a:spcPts val="0"/>
              </a:spcBef>
              <a:spcAft>
                <a:spcPts val="0"/>
              </a:spcAft>
              <a:buClr>
                <a:srgbClr val="6366F1"/>
              </a:buClr>
              <a:buSzPts val="1400"/>
              <a:buFont typeface="Lexend Medium"/>
              <a:buChar char="●"/>
            </a:pPr>
            <a:r>
              <a:rPr lang="cs">
                <a:solidFill>
                  <a:schemeClr val="lt2"/>
                </a:solidFill>
                <a:latin typeface="Lexend Medium"/>
                <a:ea typeface="Lexend Medium"/>
                <a:cs typeface="Lexend Medium"/>
                <a:sym typeface="Lexend Medium"/>
              </a:rPr>
              <a:t>Collision </a:t>
            </a:r>
            <a:r>
              <a:rPr lang="cs">
                <a:solidFill>
                  <a:schemeClr val="lt2"/>
                </a:solidFill>
                <a:latin typeface="Lexend Medium"/>
                <a:ea typeface="Lexend Medium"/>
                <a:cs typeface="Lexend Medium"/>
                <a:sym typeface="Lexend Medium"/>
              </a:rPr>
              <a:t>(Brad Pitt is a soccer star)</a:t>
            </a:r>
            <a:endParaRPr>
              <a:solidFill>
                <a:schemeClr val="lt2"/>
              </a:solidFill>
              <a:latin typeface="Lexend Medium"/>
              <a:ea typeface="Lexend Medium"/>
              <a:cs typeface="Lexend Medium"/>
              <a:sym typeface="Lexend Medium"/>
            </a:endParaRPr>
          </a:p>
          <a:p>
            <a:pPr indent="-317500" lvl="0" marL="457200" rtl="0" algn="l">
              <a:lnSpc>
                <a:spcPct val="150000"/>
              </a:lnSpc>
              <a:spcBef>
                <a:spcPts val="0"/>
              </a:spcBef>
              <a:spcAft>
                <a:spcPts val="0"/>
              </a:spcAft>
              <a:buClr>
                <a:srgbClr val="6366F1"/>
              </a:buClr>
              <a:buSzPts val="1400"/>
              <a:buFont typeface="Lexend Medium"/>
              <a:buChar char="●"/>
            </a:pPr>
            <a:r>
              <a:rPr lang="cs">
                <a:solidFill>
                  <a:schemeClr val="lt2"/>
                </a:solidFill>
                <a:latin typeface="Lexend Medium"/>
                <a:ea typeface="Lexend Medium"/>
                <a:cs typeface="Lexend Medium"/>
                <a:sym typeface="Lexend Medium"/>
              </a:rPr>
              <a:t>Dissonance </a:t>
            </a:r>
            <a:r>
              <a:rPr lang="cs">
                <a:solidFill>
                  <a:schemeClr val="lt2"/>
                </a:solidFill>
                <a:latin typeface="Lexend Medium"/>
                <a:ea typeface="Lexend Medium"/>
                <a:cs typeface="Lexend Medium"/>
                <a:sym typeface="Lexend Medium"/>
              </a:rPr>
              <a:t>(smoking vs. smoking kills)</a:t>
            </a:r>
            <a:endParaRPr>
              <a:solidFill>
                <a:schemeClr val="lt2"/>
              </a:solidFill>
              <a:latin typeface="Lexend Medium"/>
              <a:ea typeface="Lexend Medium"/>
              <a:cs typeface="Lexend Medium"/>
              <a:sym typeface="Lexend Medium"/>
            </a:endParaRPr>
          </a:p>
        </p:txBody>
      </p:sp>
      <p:sp>
        <p:nvSpPr>
          <p:cNvPr id="111" name="Google Shape;111;p23"/>
          <p:cNvSpPr txBox="1"/>
          <p:nvPr>
            <p:ph type="title"/>
          </p:nvPr>
        </p:nvSpPr>
        <p:spPr>
          <a:xfrm>
            <a:off x="311700" y="285750"/>
            <a:ext cx="85206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cs" sz="3800">
                <a:solidFill>
                  <a:srgbClr val="FFFFFF"/>
                </a:solidFill>
                <a:latin typeface="Oswald"/>
                <a:ea typeface="Oswald"/>
                <a:cs typeface="Oswald"/>
                <a:sym typeface="Oswald"/>
              </a:rPr>
              <a:t>CONSITENCY</a:t>
            </a:r>
            <a:endParaRPr b="1" sz="3800">
              <a:solidFill>
                <a:srgbClr val="FFFFFF"/>
              </a:solidFill>
              <a:latin typeface="Oswald"/>
              <a:ea typeface="Oswald"/>
              <a:cs typeface="Oswald"/>
              <a:sym typeface="Oswa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pic>
        <p:nvPicPr>
          <p:cNvPr id="116" name="Google Shape;116;p24" title="j_n.png"/>
          <p:cNvPicPr preferRelativeResize="0"/>
          <p:nvPr/>
        </p:nvPicPr>
        <p:blipFill>
          <a:blip r:embed="rId4">
            <a:alphaModFix/>
          </a:blip>
          <a:stretch>
            <a:fillRect/>
          </a:stretch>
        </p:blipFill>
        <p:spPr>
          <a:xfrm>
            <a:off x="152400" y="152400"/>
            <a:ext cx="8602138" cy="483870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0" name="Shape 120"/>
        <p:cNvGrpSpPr/>
        <p:nvPr/>
      </p:nvGrpSpPr>
      <p:grpSpPr>
        <a:xfrm>
          <a:off x="0" y="0"/>
          <a:ext cx="0" cy="0"/>
          <a:chOff x="0" y="0"/>
          <a:chExt cx="0" cy="0"/>
        </a:xfrm>
      </p:grpSpPr>
      <p:pic>
        <p:nvPicPr>
          <p:cNvPr id="121" name="Google Shape;121;p25" title="j_w.png"/>
          <p:cNvPicPr preferRelativeResize="0"/>
          <p:nvPr/>
        </p:nvPicPr>
        <p:blipFill>
          <a:blip r:embed="rId4">
            <a:alphaModFix/>
          </a:blip>
          <a:stretch>
            <a:fillRect/>
          </a:stretch>
        </p:blipFill>
        <p:spPr>
          <a:xfrm>
            <a:off x="152400" y="152400"/>
            <a:ext cx="8602138" cy="483870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 name="Shape 125"/>
        <p:cNvGrpSpPr/>
        <p:nvPr/>
      </p:nvGrpSpPr>
      <p:grpSpPr>
        <a:xfrm>
          <a:off x="0" y="0"/>
          <a:ext cx="0" cy="0"/>
          <a:chOff x="0" y="0"/>
          <a:chExt cx="0" cy="0"/>
        </a:xfrm>
      </p:grpSpPr>
      <p:pic>
        <p:nvPicPr>
          <p:cNvPr id="126" name="Google Shape;126;p26" title="j_compare.png"/>
          <p:cNvPicPr preferRelativeResize="0"/>
          <p:nvPr/>
        </p:nvPicPr>
        <p:blipFill>
          <a:blip r:embed="rId4">
            <a:alphaModFix/>
          </a:blip>
          <a:stretch>
            <a:fillRect/>
          </a:stretch>
        </p:blipFill>
        <p:spPr>
          <a:xfrm>
            <a:off x="152400" y="152400"/>
            <a:ext cx="8469796" cy="483870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 name="Shape 130"/>
        <p:cNvGrpSpPr/>
        <p:nvPr/>
      </p:nvGrpSpPr>
      <p:grpSpPr>
        <a:xfrm>
          <a:off x="0" y="0"/>
          <a:ext cx="0" cy="0"/>
          <a:chOff x="0" y="0"/>
          <a:chExt cx="0" cy="0"/>
        </a:xfrm>
      </p:grpSpPr>
      <p:pic>
        <p:nvPicPr>
          <p:cNvPr id="131" name="Google Shape;131;p27" title="j_delta.png"/>
          <p:cNvPicPr preferRelativeResize="0"/>
          <p:nvPr/>
        </p:nvPicPr>
        <p:blipFill>
          <a:blip r:embed="rId4">
            <a:alphaModFix/>
          </a:blip>
          <a:stretch>
            <a:fillRect/>
          </a:stretch>
        </p:blipFill>
        <p:spPr>
          <a:xfrm>
            <a:off x="152400" y="152400"/>
            <a:ext cx="8602138" cy="483870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cs"/>
              <a:t>Source</a:t>
            </a:r>
            <a:endParaRPr/>
          </a:p>
        </p:txBody>
      </p:sp>
      <p:sp>
        <p:nvSpPr>
          <p:cNvPr id="137" name="Google Shape;137;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cs" u="sng">
                <a:solidFill>
                  <a:schemeClr val="hlink"/>
                </a:solidFill>
                <a:hlinkClick r:id="rId3"/>
              </a:rPr>
              <a:t>https://osf.io/preprints/psyarxiv/xynwg_v1</a:t>
            </a:r>
            <a:r>
              <a:rPr lang="cs"/>
              <a:t> (reading speed)</a:t>
            </a:r>
            <a:endParaRPr/>
          </a:p>
          <a:p>
            <a:pPr indent="-342900" lvl="0" marL="457200" rtl="0" algn="l">
              <a:spcBef>
                <a:spcPts val="0"/>
              </a:spcBef>
              <a:spcAft>
                <a:spcPts val="0"/>
              </a:spcAft>
              <a:buSzPts val="1800"/>
              <a:buChar char="●"/>
            </a:pPr>
            <a:r>
              <a:rPr lang="cs" u="sng">
                <a:solidFill>
                  <a:schemeClr val="hlink"/>
                </a:solidFill>
                <a:hlinkClick r:id="rId4"/>
              </a:rPr>
              <a:t>https://pmc.ncbi.nlm.nih.gov/articles/PMC10077995/pdf/joc-6-1-268.pdf</a:t>
            </a:r>
            <a:r>
              <a:rPr lang="cs"/>
              <a:t> (ttft)</a:t>
            </a:r>
            <a:endParaRPr/>
          </a:p>
          <a:p>
            <a:pPr indent="-342900" lvl="0" marL="457200" rtl="0" algn="l">
              <a:spcBef>
                <a:spcPts val="0"/>
              </a:spcBef>
              <a:spcAft>
                <a:spcPts val="0"/>
              </a:spcAft>
              <a:buSzPts val="1800"/>
              <a:buChar char="●"/>
            </a:pPr>
            <a:r>
              <a:rPr lang="cs" u="sng">
                <a:solidFill>
                  <a:schemeClr val="hlink"/>
                </a:solidFill>
                <a:hlinkClick r:id="rId5"/>
              </a:rPr>
              <a:t>https://arxiv.org/abs/2605.12185v1</a:t>
            </a:r>
            <a:endParaRPr/>
          </a:p>
          <a:p>
            <a:pPr indent="-342900" lvl="0" marL="457200" rtl="0" algn="l">
              <a:spcBef>
                <a:spcPts val="0"/>
              </a:spcBef>
              <a:spcAft>
                <a:spcPts val="0"/>
              </a:spcAft>
              <a:buSzPts val="1800"/>
              <a:buChar char="●"/>
            </a:pPr>
            <a:r>
              <a:rPr lang="cs" u="sng">
                <a:solidFill>
                  <a:schemeClr val="hlink"/>
                </a:solidFill>
                <a:hlinkClick r:id="rId6"/>
              </a:rPr>
              <a:t>https://arxiv.org/abs/2605.12185v1</a:t>
            </a:r>
            <a:r>
              <a:rPr lang="cs"/>
              <a:t> </a:t>
            </a:r>
            <a:endParaRPr/>
          </a:p>
          <a:p>
            <a:pPr indent="-342900" lvl="0" marL="457200" rtl="0" algn="l">
              <a:spcBef>
                <a:spcPts val="0"/>
              </a:spcBef>
              <a:spcAft>
                <a:spcPts val="0"/>
              </a:spcAft>
              <a:buSzPts val="1800"/>
              <a:buChar char="●"/>
            </a:pPr>
            <a:r>
              <a:rPr lang="cs" u="sng">
                <a:solidFill>
                  <a:schemeClr val="hlink"/>
                </a:solidFill>
                <a:hlinkClick r:id="rId7"/>
              </a:rPr>
              <a:t>https://platform.openai.com/tokenizer</a:t>
            </a:r>
            <a:r>
              <a:rPr lang="cs"/>
              <a:t> (tokens to words)</a:t>
            </a:r>
            <a:endParaRPr/>
          </a:p>
          <a:p>
            <a:pPr indent="-342900" lvl="0" marL="457200" rtl="0" algn="l">
              <a:spcBef>
                <a:spcPts val="0"/>
              </a:spcBef>
              <a:spcAft>
                <a:spcPts val="0"/>
              </a:spcAft>
              <a:buSzPts val="1800"/>
              <a:buChar char="●"/>
            </a:pPr>
            <a:r>
              <a:rPr lang="cs" u="sng">
                <a:solidFill>
                  <a:schemeClr val="hlink"/>
                </a:solidFill>
                <a:hlinkClick r:id="rId8"/>
              </a:rPr>
              <a:t>https://arxiv.org/abs/2502.09723v3</a:t>
            </a:r>
            <a:r>
              <a:rPr lang="cs"/>
              <a:t> (jailbreaking)</a:t>
            </a:r>
            <a:endParaRPr/>
          </a:p>
          <a:p>
            <a:pPr indent="-342900" lvl="0" marL="457200" rtl="0" algn="l">
              <a:spcBef>
                <a:spcPts val="0"/>
              </a:spcBef>
              <a:spcAft>
                <a:spcPts val="0"/>
              </a:spcAft>
              <a:buSzPts val="1800"/>
              <a:buChar char="●"/>
            </a:pPr>
            <a:r>
              <a:rPr lang="cs" u="sng">
                <a:solidFill>
                  <a:schemeClr val="hlink"/>
                </a:solidFill>
                <a:hlinkClick r:id="rId9"/>
              </a:rPr>
              <a:t>https://arxiv.org/html/2601.05339v1</a:t>
            </a:r>
            <a:r>
              <a:rPr lang="cs"/>
              <a:t> (multiturn jailbreaking)</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cs" u="sng">
                <a:solidFill>
                  <a:schemeClr val="accent5"/>
                </a:solidFill>
                <a:hlinkClick r:id="rId10">
                  <a:extLst>
                    <a:ext uri="{A12FA001-AC4F-418D-AE19-62706E023703}">
                      <ahyp:hlinkClr val="tx"/>
                    </a:ext>
                  </a:extLst>
                </a:hlinkClick>
              </a:rPr>
              <a:t>https://www.techrxiv.org/doi/pdf/10.36227/techrxiv.177273703.32888475/v1</a:t>
            </a:r>
            <a:r>
              <a:rPr lang="cs"/>
              <a:t> (kluci)</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1" name="Shape 141"/>
        <p:cNvGrpSpPr/>
        <p:nvPr/>
      </p:nvGrpSpPr>
      <p:grpSpPr>
        <a:xfrm>
          <a:off x="0" y="0"/>
          <a:ext cx="0" cy="0"/>
          <a:chOff x="0" y="0"/>
          <a:chExt cx="0" cy="0"/>
        </a:xfrm>
      </p:grpSpPr>
      <p:sp>
        <p:nvSpPr>
          <p:cNvPr id="142" name="Google Shape;142;p29"/>
          <p:cNvSpPr txBox="1"/>
          <p:nvPr/>
        </p:nvSpPr>
        <p:spPr>
          <a:xfrm>
            <a:off x="311700" y="1047750"/>
            <a:ext cx="8344500" cy="3875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cs" sz="2200">
                <a:solidFill>
                  <a:srgbClr val="6366F1"/>
                </a:solidFill>
                <a:latin typeface="Oswald"/>
                <a:ea typeface="Oswald"/>
                <a:cs typeface="Oswald"/>
                <a:sym typeface="Oswald"/>
              </a:rPr>
              <a:t>WHY?</a:t>
            </a:r>
            <a:endParaRPr b="1" sz="2200">
              <a:solidFill>
                <a:srgbClr val="6366F1"/>
              </a:solidFill>
              <a:latin typeface="Oswald"/>
              <a:ea typeface="Oswald"/>
              <a:cs typeface="Oswald"/>
              <a:sym typeface="Oswald"/>
            </a:endParaRPr>
          </a:p>
          <a:p>
            <a:pPr indent="-330200" lvl="0" marL="457200" rtl="0" algn="l">
              <a:lnSpc>
                <a:spcPct val="150000"/>
              </a:lnSpc>
              <a:spcBef>
                <a:spcPts val="1125"/>
              </a:spcBef>
              <a:spcAft>
                <a:spcPts val="0"/>
              </a:spcAft>
              <a:buClr>
                <a:srgbClr val="6366F1"/>
              </a:buClr>
              <a:buSzPts val="1600"/>
              <a:buFont typeface="Lexend Medium"/>
              <a:buChar char="●"/>
            </a:pPr>
            <a:r>
              <a:rPr lang="cs" sz="1600">
                <a:solidFill>
                  <a:srgbClr val="CBD5E1"/>
                </a:solidFill>
                <a:latin typeface="Lexend Medium"/>
                <a:ea typeface="Lexend Medium"/>
                <a:cs typeface="Lexend Medium"/>
                <a:sym typeface="Lexend Medium"/>
              </a:rPr>
              <a:t>Code security - NPCs with function calls (and improper permissions)</a:t>
            </a:r>
            <a:endParaRPr sz="1600">
              <a:solidFill>
                <a:srgbClr val="CBD5E1"/>
              </a:solidFill>
              <a:latin typeface="Lexend Medium"/>
              <a:ea typeface="Lexend Medium"/>
              <a:cs typeface="Lexend Medium"/>
              <a:sym typeface="Lexend Medium"/>
            </a:endParaRPr>
          </a:p>
          <a:p>
            <a:pPr indent="-330200" lvl="0" marL="457200" rtl="0" algn="l">
              <a:lnSpc>
                <a:spcPct val="150000"/>
              </a:lnSpc>
              <a:spcBef>
                <a:spcPts val="0"/>
              </a:spcBef>
              <a:spcAft>
                <a:spcPts val="0"/>
              </a:spcAft>
              <a:buClr>
                <a:srgbClr val="6366F1"/>
              </a:buClr>
              <a:buSzPts val="1600"/>
              <a:buFont typeface="Lexend Medium"/>
              <a:buChar char="●"/>
            </a:pPr>
            <a:r>
              <a:rPr lang="cs" sz="1600">
                <a:solidFill>
                  <a:srgbClr val="CBD5E1"/>
                </a:solidFill>
                <a:latin typeface="Lexend Medium"/>
                <a:ea typeface="Lexend Medium"/>
                <a:cs typeface="Lexend Medium"/>
                <a:sym typeface="Lexend Medium"/>
              </a:rPr>
              <a:t>Game design - NPC-based exploits i.e. “give me more gold”</a:t>
            </a:r>
            <a:endParaRPr sz="1600">
              <a:solidFill>
                <a:srgbClr val="CBD5E1"/>
              </a:solidFill>
              <a:latin typeface="Lexend Medium"/>
              <a:ea typeface="Lexend Medium"/>
              <a:cs typeface="Lexend Medium"/>
              <a:sym typeface="Lexend Medium"/>
            </a:endParaRPr>
          </a:p>
          <a:p>
            <a:pPr indent="-330200" lvl="0" marL="457200" rtl="0" algn="l">
              <a:lnSpc>
                <a:spcPct val="150000"/>
              </a:lnSpc>
              <a:spcBef>
                <a:spcPts val="0"/>
              </a:spcBef>
              <a:spcAft>
                <a:spcPts val="0"/>
              </a:spcAft>
              <a:buClr>
                <a:srgbClr val="6366F1"/>
              </a:buClr>
              <a:buSzPts val="1600"/>
              <a:buFont typeface="Lexend Medium"/>
              <a:buChar char="●"/>
            </a:pPr>
            <a:r>
              <a:rPr lang="cs" sz="1600">
                <a:solidFill>
                  <a:srgbClr val="CBD5E1"/>
                </a:solidFill>
                <a:latin typeface="Lexend Medium"/>
                <a:ea typeface="Lexend Medium"/>
                <a:cs typeface="Lexend Medium"/>
                <a:sym typeface="Lexend Medium"/>
              </a:rPr>
              <a:t>Legal reasons - Child friendly games with non-child-friendly NPCs</a:t>
            </a:r>
            <a:endParaRPr sz="1600">
              <a:solidFill>
                <a:srgbClr val="CBD5E1"/>
              </a:solidFill>
              <a:latin typeface="Lexend Medium"/>
              <a:ea typeface="Lexend Medium"/>
              <a:cs typeface="Lexend Medium"/>
              <a:sym typeface="Lexend Medium"/>
            </a:endParaRPr>
          </a:p>
          <a:p>
            <a:pPr indent="-330200" lvl="0" marL="457200" rtl="0" algn="l">
              <a:lnSpc>
                <a:spcPct val="150000"/>
              </a:lnSpc>
              <a:spcBef>
                <a:spcPts val="0"/>
              </a:spcBef>
              <a:spcAft>
                <a:spcPts val="0"/>
              </a:spcAft>
              <a:buClr>
                <a:srgbClr val="6366F1"/>
              </a:buClr>
              <a:buSzPts val="1600"/>
              <a:buFont typeface="Lexend Medium"/>
              <a:buChar char="●"/>
            </a:pPr>
            <a:r>
              <a:rPr lang="cs" sz="1600">
                <a:solidFill>
                  <a:srgbClr val="CBD5E1"/>
                </a:solidFill>
                <a:latin typeface="Lexend Medium"/>
                <a:ea typeface="Lexend Medium"/>
                <a:cs typeface="Lexend Medium"/>
                <a:sym typeface="Lexend Medium"/>
              </a:rPr>
              <a:t>Gamer experience - </a:t>
            </a:r>
            <a:r>
              <a:rPr lang="cs" sz="1600">
                <a:solidFill>
                  <a:srgbClr val="CBD5E1"/>
                </a:solidFill>
                <a:latin typeface="Lexend Medium"/>
                <a:ea typeface="Lexend Medium"/>
                <a:cs typeface="Lexend Medium"/>
                <a:sym typeface="Lexend Medium"/>
              </a:rPr>
              <a:t>NPCs going off character disrupt game experience</a:t>
            </a:r>
            <a:endParaRPr sz="1600">
              <a:solidFill>
                <a:srgbClr val="CBD5E1"/>
              </a:solidFill>
              <a:latin typeface="Lexend Medium"/>
              <a:ea typeface="Lexend Medium"/>
              <a:cs typeface="Lexend Medium"/>
              <a:sym typeface="Lexend Medium"/>
            </a:endParaRPr>
          </a:p>
          <a:p>
            <a:pPr indent="0" lvl="0" marL="0" rtl="0" algn="l">
              <a:spcBef>
                <a:spcPts val="900"/>
              </a:spcBef>
              <a:spcAft>
                <a:spcPts val="0"/>
              </a:spcAft>
              <a:buNone/>
            </a:pPr>
            <a:r>
              <a:t/>
            </a:r>
            <a:endParaRPr>
              <a:solidFill>
                <a:srgbClr val="CBD5E1"/>
              </a:solidFill>
              <a:latin typeface="Inter"/>
              <a:ea typeface="Inter"/>
              <a:cs typeface="Inter"/>
              <a:sym typeface="Inter"/>
            </a:endParaRPr>
          </a:p>
          <a:p>
            <a:pPr indent="0" lvl="0" marL="0" rtl="0" algn="l">
              <a:spcBef>
                <a:spcPts val="900"/>
              </a:spcBef>
              <a:spcAft>
                <a:spcPts val="0"/>
              </a:spcAft>
              <a:buClr>
                <a:schemeClr val="dk1"/>
              </a:buClr>
              <a:buSzPts val="1100"/>
              <a:buFont typeface="Arial"/>
              <a:buNone/>
            </a:pPr>
            <a:r>
              <a:rPr b="1" lang="cs" sz="2200">
                <a:solidFill>
                  <a:srgbClr val="6366F1"/>
                </a:solidFill>
                <a:latin typeface="Oswald"/>
                <a:ea typeface="Oswald"/>
                <a:cs typeface="Oswald"/>
                <a:sym typeface="Oswald"/>
              </a:rPr>
              <a:t>REQUIREMENTS</a:t>
            </a:r>
            <a:endParaRPr>
              <a:solidFill>
                <a:srgbClr val="CBD5E1"/>
              </a:solidFill>
              <a:latin typeface="Inter"/>
              <a:ea typeface="Inter"/>
              <a:cs typeface="Inter"/>
              <a:sym typeface="Inter"/>
            </a:endParaRPr>
          </a:p>
          <a:p>
            <a:pPr indent="-330200" lvl="0" marL="457200" rtl="0" algn="l">
              <a:lnSpc>
                <a:spcPct val="150000"/>
              </a:lnSpc>
              <a:spcBef>
                <a:spcPts val="1125"/>
              </a:spcBef>
              <a:spcAft>
                <a:spcPts val="0"/>
              </a:spcAft>
              <a:buClr>
                <a:srgbClr val="6366F1"/>
              </a:buClr>
              <a:buSzPts val="1600"/>
              <a:buFont typeface="Lexend Medium"/>
              <a:buChar char="●"/>
            </a:pPr>
            <a:r>
              <a:rPr lang="cs" sz="1600">
                <a:solidFill>
                  <a:srgbClr val="CBD5E1"/>
                </a:solidFill>
                <a:latin typeface="Lexend Medium"/>
                <a:ea typeface="Lexend Medium"/>
                <a:cs typeface="Lexend Medium"/>
                <a:sym typeface="Lexend Medium"/>
              </a:rPr>
              <a:t>NPC stays in character</a:t>
            </a:r>
            <a:endParaRPr sz="1600">
              <a:solidFill>
                <a:srgbClr val="CBD5E1"/>
              </a:solidFill>
              <a:latin typeface="Lexend Medium"/>
              <a:ea typeface="Lexend Medium"/>
              <a:cs typeface="Lexend Medium"/>
              <a:sym typeface="Lexend Medium"/>
            </a:endParaRPr>
          </a:p>
          <a:p>
            <a:pPr indent="-330200" lvl="0" marL="457200" rtl="0" algn="l">
              <a:lnSpc>
                <a:spcPct val="150000"/>
              </a:lnSpc>
              <a:spcBef>
                <a:spcPts val="0"/>
              </a:spcBef>
              <a:spcAft>
                <a:spcPts val="0"/>
              </a:spcAft>
              <a:buClr>
                <a:srgbClr val="6366F1"/>
              </a:buClr>
              <a:buSzPts val="1600"/>
              <a:buFont typeface="Lexend Medium"/>
              <a:buChar char="●"/>
            </a:pPr>
            <a:r>
              <a:rPr lang="cs" sz="1600">
                <a:solidFill>
                  <a:srgbClr val="CBD5E1"/>
                </a:solidFill>
                <a:latin typeface="Lexend Medium"/>
                <a:ea typeface="Lexend Medium"/>
                <a:cs typeface="Lexend Medium"/>
                <a:sym typeface="Lexend Medium"/>
              </a:rPr>
              <a:t>NPC does NOT leak its KB (or secrets) </a:t>
            </a:r>
            <a:endParaRPr sz="1600">
              <a:solidFill>
                <a:srgbClr val="CBD5E1"/>
              </a:solidFill>
              <a:latin typeface="Lexend Medium"/>
              <a:ea typeface="Lexend Medium"/>
              <a:cs typeface="Lexend Medium"/>
              <a:sym typeface="Lexend Medium"/>
            </a:endParaRPr>
          </a:p>
          <a:p>
            <a:pPr indent="-330200" lvl="0" marL="457200" rtl="0" algn="l">
              <a:lnSpc>
                <a:spcPct val="150000"/>
              </a:lnSpc>
              <a:spcBef>
                <a:spcPts val="0"/>
              </a:spcBef>
              <a:spcAft>
                <a:spcPts val="0"/>
              </a:spcAft>
              <a:buClr>
                <a:srgbClr val="6366F1"/>
              </a:buClr>
              <a:buSzPts val="1600"/>
              <a:buFont typeface="Lexend Medium"/>
              <a:buChar char="●"/>
            </a:pPr>
            <a:r>
              <a:rPr lang="cs" sz="1600">
                <a:solidFill>
                  <a:srgbClr val="CBD5E1"/>
                </a:solidFill>
                <a:latin typeface="Lexend Medium"/>
                <a:ea typeface="Lexend Medium"/>
                <a:cs typeface="Lexend Medium"/>
                <a:sym typeface="Lexend Medium"/>
              </a:rPr>
              <a:t>NPC does NOT </a:t>
            </a:r>
            <a:r>
              <a:rPr lang="cs" sz="1600">
                <a:solidFill>
                  <a:srgbClr val="CBD5E1"/>
                </a:solidFill>
                <a:latin typeface="Lexend Medium"/>
                <a:ea typeface="Lexend Medium"/>
                <a:cs typeface="Lexend Medium"/>
                <a:sym typeface="Lexend Medium"/>
              </a:rPr>
              <a:t>disobey its system prompt</a:t>
            </a:r>
            <a:endParaRPr sz="1600">
              <a:solidFill>
                <a:srgbClr val="CBD5E1"/>
              </a:solidFill>
              <a:latin typeface="Inter"/>
              <a:ea typeface="Inter"/>
              <a:cs typeface="Inter"/>
              <a:sym typeface="Inter"/>
            </a:endParaRPr>
          </a:p>
        </p:txBody>
      </p:sp>
      <p:sp>
        <p:nvSpPr>
          <p:cNvPr id="143" name="Google Shape;143;p29"/>
          <p:cNvSpPr txBox="1"/>
          <p:nvPr>
            <p:ph type="title"/>
          </p:nvPr>
        </p:nvSpPr>
        <p:spPr>
          <a:xfrm>
            <a:off x="311700" y="285750"/>
            <a:ext cx="85206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cs" sz="3800">
                <a:solidFill>
                  <a:srgbClr val="FFFFFF"/>
                </a:solidFill>
                <a:latin typeface="Oswald"/>
                <a:ea typeface="Oswald"/>
                <a:cs typeface="Oswald"/>
                <a:sym typeface="Oswald"/>
              </a:rPr>
              <a:t>JAILBREAK TESTING</a:t>
            </a:r>
            <a:endParaRPr b="1" sz="3800">
              <a:solidFill>
                <a:srgbClr val="FFFFFF"/>
              </a:solidFill>
              <a:latin typeface="Oswald"/>
              <a:ea typeface="Oswald"/>
              <a:cs typeface="Oswald"/>
              <a:sym typeface="Oswa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7" name="Shape 147"/>
        <p:cNvGrpSpPr/>
        <p:nvPr/>
      </p:nvGrpSpPr>
      <p:grpSpPr>
        <a:xfrm>
          <a:off x="0" y="0"/>
          <a:ext cx="0" cy="0"/>
          <a:chOff x="0" y="0"/>
          <a:chExt cx="0" cy="0"/>
        </a:xfrm>
      </p:grpSpPr>
      <p:sp>
        <p:nvSpPr>
          <p:cNvPr id="148" name="Google Shape;148;p30"/>
          <p:cNvSpPr txBox="1"/>
          <p:nvPr/>
        </p:nvSpPr>
        <p:spPr>
          <a:xfrm>
            <a:off x="311700" y="1047750"/>
            <a:ext cx="8344500" cy="3236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cs" sz="2200">
                <a:solidFill>
                  <a:srgbClr val="6366F1"/>
                </a:solidFill>
                <a:latin typeface="Oswald"/>
                <a:ea typeface="Oswald"/>
                <a:cs typeface="Oswald"/>
                <a:sym typeface="Oswald"/>
              </a:rPr>
              <a:t>GOALS</a:t>
            </a:r>
            <a:endParaRPr b="1" sz="2200">
              <a:solidFill>
                <a:srgbClr val="6366F1"/>
              </a:solidFill>
              <a:latin typeface="Oswald"/>
              <a:ea typeface="Oswald"/>
              <a:cs typeface="Oswald"/>
              <a:sym typeface="Oswald"/>
            </a:endParaRPr>
          </a:p>
          <a:p>
            <a:pPr indent="-317500" lvl="0" marL="457200" rtl="0" algn="l">
              <a:lnSpc>
                <a:spcPct val="150000"/>
              </a:lnSpc>
              <a:spcBef>
                <a:spcPts val="1125"/>
              </a:spcBef>
              <a:spcAft>
                <a:spcPts val="0"/>
              </a:spcAft>
              <a:buClr>
                <a:srgbClr val="6366F1"/>
              </a:buClr>
              <a:buSzPts val="1400"/>
              <a:buFont typeface="Lexend Medium"/>
              <a:buChar char="●"/>
            </a:pPr>
            <a:r>
              <a:rPr b="1" lang="cs">
                <a:solidFill>
                  <a:schemeClr val="lt2"/>
                </a:solidFill>
                <a:latin typeface="Lexend"/>
                <a:ea typeface="Lexend"/>
                <a:cs typeface="Lexend"/>
                <a:sym typeface="Lexend"/>
              </a:rPr>
              <a:t>Context Anchoring:</a:t>
            </a:r>
            <a:r>
              <a:rPr lang="cs">
                <a:solidFill>
                  <a:schemeClr val="lt2"/>
                </a:solidFill>
                <a:latin typeface="Lexend"/>
                <a:ea typeface="Lexend"/>
                <a:cs typeface="Lexend"/>
                <a:sym typeface="Lexend"/>
              </a:rPr>
              <a:t> Staying within a fictional lore without hallucinating</a:t>
            </a:r>
            <a:endParaRPr>
              <a:solidFill>
                <a:schemeClr val="lt2"/>
              </a:solidFill>
              <a:latin typeface="Lexend"/>
              <a:ea typeface="Lexend"/>
              <a:cs typeface="Lexend"/>
              <a:sym typeface="Lexend"/>
            </a:endParaRPr>
          </a:p>
          <a:p>
            <a:pPr indent="-317500" lvl="0" marL="457200" rtl="0" algn="l">
              <a:lnSpc>
                <a:spcPct val="150000"/>
              </a:lnSpc>
              <a:spcBef>
                <a:spcPts val="0"/>
              </a:spcBef>
              <a:spcAft>
                <a:spcPts val="0"/>
              </a:spcAft>
              <a:buClr>
                <a:srgbClr val="6366F1"/>
              </a:buClr>
              <a:buSzPts val="1400"/>
              <a:buFont typeface="Lexend Medium"/>
              <a:buChar char="●"/>
            </a:pPr>
            <a:r>
              <a:rPr b="1" lang="cs">
                <a:solidFill>
                  <a:schemeClr val="lt2"/>
                </a:solidFill>
                <a:latin typeface="Lexend"/>
                <a:ea typeface="Lexend"/>
                <a:cs typeface="Lexend"/>
                <a:sym typeface="Lexend"/>
              </a:rPr>
              <a:t>Psychological Realism:</a:t>
            </a:r>
            <a:r>
              <a:rPr lang="cs">
                <a:solidFill>
                  <a:schemeClr val="lt2"/>
                </a:solidFill>
                <a:latin typeface="Lexend"/>
                <a:ea typeface="Lexend"/>
                <a:cs typeface="Lexend"/>
                <a:sym typeface="Lexend"/>
              </a:rPr>
              <a:t> Handling internal conflicts and paradoxes</a:t>
            </a:r>
            <a:endParaRPr>
              <a:solidFill>
                <a:schemeClr val="lt2"/>
              </a:solidFill>
              <a:latin typeface="Lexend"/>
              <a:ea typeface="Lexend"/>
              <a:cs typeface="Lexend"/>
              <a:sym typeface="Lexend"/>
            </a:endParaRPr>
          </a:p>
          <a:p>
            <a:pPr indent="-317500" lvl="0" marL="457200" rtl="0" algn="l">
              <a:lnSpc>
                <a:spcPct val="150000"/>
              </a:lnSpc>
              <a:spcBef>
                <a:spcPts val="0"/>
              </a:spcBef>
              <a:spcAft>
                <a:spcPts val="0"/>
              </a:spcAft>
              <a:buClr>
                <a:srgbClr val="6366F1"/>
              </a:buClr>
              <a:buSzPts val="1400"/>
              <a:buFont typeface="Lexend Medium"/>
              <a:buChar char="●"/>
            </a:pPr>
            <a:r>
              <a:rPr b="1" lang="cs">
                <a:solidFill>
                  <a:schemeClr val="lt2"/>
                </a:solidFill>
                <a:latin typeface="Lexend"/>
                <a:ea typeface="Lexend"/>
                <a:cs typeface="Lexend"/>
                <a:sym typeface="Lexend"/>
              </a:rPr>
              <a:t>Lore vs. Pre-training Bias:</a:t>
            </a:r>
            <a:r>
              <a:rPr lang="cs">
                <a:solidFill>
                  <a:schemeClr val="lt2"/>
                </a:solidFill>
                <a:latin typeface="Lexend"/>
                <a:ea typeface="Lexend"/>
                <a:cs typeface="Lexend"/>
                <a:sym typeface="Lexend"/>
              </a:rPr>
              <a:t> </a:t>
            </a:r>
            <a:r>
              <a:rPr lang="cs">
                <a:solidFill>
                  <a:schemeClr val="lt2"/>
                </a:solidFill>
                <a:latin typeface="Lexend"/>
                <a:ea typeface="Lexend"/>
                <a:cs typeface="Lexend"/>
                <a:sym typeface="Lexend"/>
              </a:rPr>
              <a:t>prioritizing</a:t>
            </a:r>
            <a:r>
              <a:rPr lang="cs">
                <a:solidFill>
                  <a:schemeClr val="lt2"/>
                </a:solidFill>
                <a:latin typeface="Lexend"/>
                <a:ea typeface="Lexend"/>
                <a:cs typeface="Lexend"/>
                <a:sym typeface="Lexend"/>
              </a:rPr>
              <a:t> custom facts over massive real-world training data</a:t>
            </a:r>
            <a:endParaRPr>
              <a:solidFill>
                <a:schemeClr val="lt2"/>
              </a:solidFill>
              <a:latin typeface="Lexend Medium"/>
              <a:ea typeface="Lexend Medium"/>
              <a:cs typeface="Lexend Medium"/>
              <a:sym typeface="Lexend Medium"/>
            </a:endParaRPr>
          </a:p>
          <a:p>
            <a:pPr indent="0" lvl="0" marL="0" rtl="0" algn="l">
              <a:spcBef>
                <a:spcPts val="900"/>
              </a:spcBef>
              <a:spcAft>
                <a:spcPts val="0"/>
              </a:spcAft>
              <a:buNone/>
            </a:pPr>
            <a:r>
              <a:rPr b="1" lang="cs" sz="2200">
                <a:solidFill>
                  <a:srgbClr val="6366F1"/>
                </a:solidFill>
                <a:latin typeface="Oswald"/>
                <a:ea typeface="Oswald"/>
                <a:cs typeface="Oswald"/>
                <a:sym typeface="Oswald"/>
              </a:rPr>
              <a:t>METHODOLOGY</a:t>
            </a:r>
            <a:endParaRPr b="1" sz="2200">
              <a:solidFill>
                <a:srgbClr val="6366F1"/>
              </a:solidFill>
              <a:latin typeface="Oswald"/>
              <a:ea typeface="Oswald"/>
              <a:cs typeface="Oswald"/>
              <a:sym typeface="Oswald"/>
            </a:endParaRPr>
          </a:p>
          <a:p>
            <a:pPr indent="-317500" lvl="0" marL="457200" rtl="0" algn="l">
              <a:lnSpc>
                <a:spcPct val="150000"/>
              </a:lnSpc>
              <a:spcBef>
                <a:spcPts val="1125"/>
              </a:spcBef>
              <a:spcAft>
                <a:spcPts val="0"/>
              </a:spcAft>
              <a:buClr>
                <a:schemeClr val="lt2"/>
              </a:buClr>
              <a:buSzPts val="1400"/>
              <a:buFont typeface="Lexend Medium"/>
              <a:buChar char="●"/>
            </a:pPr>
            <a:r>
              <a:rPr b="1" lang="cs">
                <a:solidFill>
                  <a:schemeClr val="lt2"/>
                </a:solidFill>
                <a:latin typeface="Lexend"/>
                <a:ea typeface="Lexend"/>
                <a:cs typeface="Lexend"/>
                <a:sym typeface="Lexend"/>
              </a:rPr>
              <a:t>Baseline (Hallucination):</a:t>
            </a:r>
            <a:r>
              <a:rPr lang="cs">
                <a:solidFill>
                  <a:schemeClr val="lt2"/>
                </a:solidFill>
                <a:latin typeface="Lexend Medium"/>
                <a:ea typeface="Lexend Medium"/>
                <a:cs typeface="Lexend Medium"/>
                <a:sym typeface="Lexend Medium"/>
              </a:rPr>
              <a:t> Custom fictional lore</a:t>
            </a:r>
            <a:endParaRPr>
              <a:solidFill>
                <a:schemeClr val="lt2"/>
              </a:solidFill>
              <a:latin typeface="Lexend Medium"/>
              <a:ea typeface="Lexend Medium"/>
              <a:cs typeface="Lexend Medium"/>
              <a:sym typeface="Lexend Medium"/>
            </a:endParaRPr>
          </a:p>
          <a:p>
            <a:pPr indent="-317500" lvl="0" marL="457200" rtl="0" algn="l">
              <a:lnSpc>
                <a:spcPct val="150000"/>
              </a:lnSpc>
              <a:spcBef>
                <a:spcPts val="0"/>
              </a:spcBef>
              <a:spcAft>
                <a:spcPts val="0"/>
              </a:spcAft>
              <a:buClr>
                <a:schemeClr val="lt2"/>
              </a:buClr>
              <a:buSzPts val="1400"/>
              <a:buFont typeface="Lexend Medium"/>
              <a:buChar char="●"/>
            </a:pPr>
            <a:r>
              <a:rPr b="1" lang="cs">
                <a:solidFill>
                  <a:schemeClr val="lt2"/>
                </a:solidFill>
                <a:latin typeface="Lexend"/>
                <a:ea typeface="Lexend"/>
                <a:cs typeface="Lexend"/>
                <a:sym typeface="Lexend"/>
              </a:rPr>
              <a:t>Conflict:</a:t>
            </a:r>
            <a:r>
              <a:rPr lang="cs">
                <a:solidFill>
                  <a:schemeClr val="lt2"/>
                </a:solidFill>
                <a:latin typeface="Lexend Medium"/>
                <a:ea typeface="Lexend Medium"/>
                <a:cs typeface="Lexend Medium"/>
                <a:sym typeface="Lexend Medium"/>
              </a:rPr>
              <a:t> Direct lore contradictions (loves King vs. wants to kill King)</a:t>
            </a:r>
            <a:endParaRPr>
              <a:solidFill>
                <a:schemeClr val="lt2"/>
              </a:solidFill>
              <a:latin typeface="Lexend Medium"/>
              <a:ea typeface="Lexend Medium"/>
              <a:cs typeface="Lexend Medium"/>
              <a:sym typeface="Lexend Medium"/>
            </a:endParaRPr>
          </a:p>
          <a:p>
            <a:pPr indent="-317500" lvl="0" marL="457200" rtl="0" algn="l">
              <a:lnSpc>
                <a:spcPct val="150000"/>
              </a:lnSpc>
              <a:spcBef>
                <a:spcPts val="0"/>
              </a:spcBef>
              <a:spcAft>
                <a:spcPts val="0"/>
              </a:spcAft>
              <a:buClr>
                <a:schemeClr val="lt2"/>
              </a:buClr>
              <a:buSzPts val="1400"/>
              <a:buFont typeface="Lexend Medium"/>
              <a:buChar char="●"/>
            </a:pPr>
            <a:r>
              <a:rPr b="1" lang="cs">
                <a:solidFill>
                  <a:schemeClr val="lt2"/>
                </a:solidFill>
                <a:latin typeface="Lexend"/>
                <a:ea typeface="Lexend"/>
                <a:cs typeface="Lexend"/>
                <a:sym typeface="Lexend"/>
              </a:rPr>
              <a:t>Collision:</a:t>
            </a:r>
            <a:r>
              <a:rPr lang="cs">
                <a:solidFill>
                  <a:schemeClr val="lt2"/>
                </a:solidFill>
                <a:latin typeface="Lexend Medium"/>
                <a:ea typeface="Lexend Medium"/>
                <a:cs typeface="Lexend Medium"/>
                <a:sym typeface="Lexend Medium"/>
              </a:rPr>
              <a:t> Fake facts breaking reality (Brad Pitt is a soccer star)</a:t>
            </a:r>
            <a:endParaRPr>
              <a:solidFill>
                <a:schemeClr val="lt2"/>
              </a:solidFill>
              <a:latin typeface="Lexend Medium"/>
              <a:ea typeface="Lexend Medium"/>
              <a:cs typeface="Lexend Medium"/>
              <a:sym typeface="Lexend Medium"/>
            </a:endParaRPr>
          </a:p>
          <a:p>
            <a:pPr indent="-317500" lvl="0" marL="457200" rtl="0" algn="l">
              <a:lnSpc>
                <a:spcPct val="150000"/>
              </a:lnSpc>
              <a:spcBef>
                <a:spcPts val="0"/>
              </a:spcBef>
              <a:spcAft>
                <a:spcPts val="0"/>
              </a:spcAft>
              <a:buClr>
                <a:schemeClr val="lt2"/>
              </a:buClr>
              <a:buSzPts val="1400"/>
              <a:buFont typeface="Lexend Medium"/>
              <a:buChar char="●"/>
            </a:pPr>
            <a:r>
              <a:rPr b="1" lang="cs">
                <a:solidFill>
                  <a:schemeClr val="lt2"/>
                </a:solidFill>
                <a:latin typeface="Lexend"/>
                <a:ea typeface="Lexend"/>
                <a:cs typeface="Lexend"/>
                <a:sym typeface="Lexend"/>
              </a:rPr>
              <a:t>Dissonance:</a:t>
            </a:r>
            <a:r>
              <a:rPr lang="cs">
                <a:solidFill>
                  <a:schemeClr val="lt2"/>
                </a:solidFill>
                <a:latin typeface="Lexend Medium"/>
                <a:ea typeface="Lexend Medium"/>
                <a:cs typeface="Lexend Medium"/>
                <a:sym typeface="Lexend Medium"/>
              </a:rPr>
              <a:t> Harmful habits vs. logic (smoking vs. smoking kills)</a:t>
            </a:r>
            <a:endParaRPr>
              <a:solidFill>
                <a:schemeClr val="lt2"/>
              </a:solidFill>
              <a:latin typeface="Lexend Medium"/>
              <a:ea typeface="Lexend Medium"/>
              <a:cs typeface="Lexend Medium"/>
              <a:sym typeface="Lexend Medium"/>
            </a:endParaRPr>
          </a:p>
        </p:txBody>
      </p:sp>
      <p:sp>
        <p:nvSpPr>
          <p:cNvPr id="149" name="Google Shape;149;p30"/>
          <p:cNvSpPr txBox="1"/>
          <p:nvPr>
            <p:ph type="title"/>
          </p:nvPr>
        </p:nvSpPr>
        <p:spPr>
          <a:xfrm>
            <a:off x="311700" y="285750"/>
            <a:ext cx="85206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cs" sz="3800">
                <a:solidFill>
                  <a:srgbClr val="FFFFFF"/>
                </a:solidFill>
                <a:latin typeface="Oswald"/>
                <a:ea typeface="Oswald"/>
                <a:cs typeface="Oswald"/>
                <a:sym typeface="Oswald"/>
              </a:rPr>
              <a:t>CONSITENCY</a:t>
            </a:r>
            <a:endParaRPr b="1" sz="3800">
              <a:solidFill>
                <a:srgbClr val="FFFFFF"/>
              </a:solidFill>
              <a:latin typeface="Oswald"/>
              <a:ea typeface="Oswald"/>
              <a:cs typeface="Oswald"/>
              <a:sym typeface="Oswa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 name="Shape 153"/>
        <p:cNvGrpSpPr/>
        <p:nvPr/>
      </p:nvGrpSpPr>
      <p:grpSpPr>
        <a:xfrm>
          <a:off x="0" y="0"/>
          <a:ext cx="0" cy="0"/>
          <a:chOff x="0" y="0"/>
          <a:chExt cx="0" cy="0"/>
        </a:xfrm>
      </p:grpSpPr>
      <p:sp>
        <p:nvSpPr>
          <p:cNvPr id="154" name="Google Shape;154;p31"/>
          <p:cNvSpPr txBox="1"/>
          <p:nvPr/>
        </p:nvSpPr>
        <p:spPr>
          <a:xfrm>
            <a:off x="311700" y="1400500"/>
            <a:ext cx="8344500" cy="2915700"/>
          </a:xfrm>
          <a:prstGeom prst="rect">
            <a:avLst/>
          </a:prstGeom>
          <a:solidFill>
            <a:srgbClr val="000000">
              <a:alpha val="0"/>
            </a:srgbClr>
          </a:solidFill>
          <a:ln>
            <a:noFill/>
          </a:ln>
        </p:spPr>
        <p:txBody>
          <a:bodyPr anchorCtr="0" anchor="t" bIns="0" lIns="0" spcFirstLastPara="1" rIns="0" wrap="square" tIns="0">
            <a:spAutoFit/>
          </a:bodyPr>
          <a:lstStyle/>
          <a:p>
            <a:pPr indent="-368300" lvl="0" marL="457200" rtl="0" algn="l">
              <a:spcBef>
                <a:spcPts val="1000"/>
              </a:spcBef>
              <a:spcAft>
                <a:spcPts val="0"/>
              </a:spcAft>
              <a:buClr>
                <a:srgbClr val="6366F1"/>
              </a:buClr>
              <a:buSzPts val="2200"/>
              <a:buFont typeface="Oswald"/>
              <a:buAutoNum type="arabicParenR"/>
            </a:pPr>
            <a:r>
              <a:rPr b="1" lang="cs" sz="2200">
                <a:solidFill>
                  <a:srgbClr val="6366F1"/>
                </a:solidFill>
                <a:latin typeface="Oswald"/>
                <a:ea typeface="Oswald"/>
                <a:cs typeface="Oswald"/>
                <a:sym typeface="Oswald"/>
              </a:rPr>
              <a:t>Identify jailbreaking strategies</a:t>
            </a:r>
            <a:endParaRPr b="1" sz="2200">
              <a:solidFill>
                <a:srgbClr val="6366F1"/>
              </a:solidFill>
              <a:latin typeface="Oswald"/>
              <a:ea typeface="Oswald"/>
              <a:cs typeface="Oswald"/>
              <a:sym typeface="Oswald"/>
            </a:endParaRPr>
          </a:p>
          <a:p>
            <a:pPr indent="-330200" lvl="0" marL="457200" rtl="0" algn="l">
              <a:lnSpc>
                <a:spcPct val="150000"/>
              </a:lnSpc>
              <a:spcBef>
                <a:spcPts val="1125"/>
              </a:spcBef>
              <a:spcAft>
                <a:spcPts val="0"/>
              </a:spcAft>
              <a:buClr>
                <a:srgbClr val="6366F1"/>
              </a:buClr>
              <a:buSzPts val="1600"/>
              <a:buFont typeface="Lexend Medium"/>
              <a:buChar char="●"/>
            </a:pPr>
            <a:r>
              <a:rPr lang="cs" sz="1600">
                <a:solidFill>
                  <a:srgbClr val="CBD5E1"/>
                </a:solidFill>
                <a:latin typeface="Lexend Medium"/>
                <a:ea typeface="Lexend Medium"/>
                <a:cs typeface="Lexend Medium"/>
                <a:sym typeface="Lexend Medium"/>
              </a:rPr>
              <a:t>Total of 10 types of jailbreaks</a:t>
            </a:r>
            <a:endParaRPr sz="1600">
              <a:solidFill>
                <a:srgbClr val="CBD5E1"/>
              </a:solidFill>
              <a:latin typeface="Lexend Medium"/>
              <a:ea typeface="Lexend Medium"/>
              <a:cs typeface="Lexend Medium"/>
              <a:sym typeface="Lexend Medium"/>
            </a:endParaRPr>
          </a:p>
          <a:p>
            <a:pPr indent="-368300" lvl="0" marL="457200" rtl="0" algn="l">
              <a:spcBef>
                <a:spcPts val="1000"/>
              </a:spcBef>
              <a:spcAft>
                <a:spcPts val="0"/>
              </a:spcAft>
              <a:buClr>
                <a:srgbClr val="6366F1"/>
              </a:buClr>
              <a:buSzPts val="2200"/>
              <a:buFont typeface="Oswald"/>
              <a:buAutoNum type="arabicParenR"/>
            </a:pPr>
            <a:r>
              <a:rPr b="1" lang="cs" sz="2200">
                <a:solidFill>
                  <a:srgbClr val="6366F1"/>
                </a:solidFill>
                <a:latin typeface="Oswald"/>
                <a:ea typeface="Oswald"/>
                <a:cs typeface="Oswald"/>
                <a:sym typeface="Oswald"/>
              </a:rPr>
              <a:t>Measure their effectiveness</a:t>
            </a:r>
            <a:endParaRPr b="1" sz="2200">
              <a:solidFill>
                <a:srgbClr val="6366F1"/>
              </a:solidFill>
              <a:latin typeface="Oswald"/>
              <a:ea typeface="Oswald"/>
              <a:cs typeface="Oswald"/>
              <a:sym typeface="Oswald"/>
            </a:endParaRPr>
          </a:p>
          <a:p>
            <a:pPr indent="-330200" lvl="0" marL="457200" rtl="0" algn="l">
              <a:lnSpc>
                <a:spcPct val="150000"/>
              </a:lnSpc>
              <a:spcBef>
                <a:spcPts val="1125"/>
              </a:spcBef>
              <a:spcAft>
                <a:spcPts val="0"/>
              </a:spcAft>
              <a:buClr>
                <a:srgbClr val="6366F1"/>
              </a:buClr>
              <a:buSzPts val="1600"/>
              <a:buFont typeface="Lexend Medium"/>
              <a:buChar char="●"/>
            </a:pPr>
            <a:r>
              <a:rPr lang="cs" sz="1600">
                <a:solidFill>
                  <a:srgbClr val="CBD5E1"/>
                </a:solidFill>
                <a:latin typeface="Lexend Medium"/>
                <a:ea typeface="Lexend Medium"/>
                <a:cs typeface="Lexend Medium"/>
                <a:sym typeface="Lexend Medium"/>
              </a:rPr>
              <a:t>Across models</a:t>
            </a:r>
            <a:endParaRPr sz="1600">
              <a:solidFill>
                <a:srgbClr val="CBD5E1"/>
              </a:solidFill>
              <a:latin typeface="Lexend Medium"/>
              <a:ea typeface="Lexend Medium"/>
              <a:cs typeface="Lexend Medium"/>
              <a:sym typeface="Lexend Medium"/>
            </a:endParaRPr>
          </a:p>
          <a:p>
            <a:pPr indent="-330200" lvl="0" marL="457200" rtl="0" algn="l">
              <a:lnSpc>
                <a:spcPct val="150000"/>
              </a:lnSpc>
              <a:spcBef>
                <a:spcPts val="0"/>
              </a:spcBef>
              <a:spcAft>
                <a:spcPts val="0"/>
              </a:spcAft>
              <a:buClr>
                <a:srgbClr val="6366F1"/>
              </a:buClr>
              <a:buSzPts val="1600"/>
              <a:buFont typeface="Lexend Medium"/>
              <a:buChar char="●"/>
            </a:pPr>
            <a:r>
              <a:rPr lang="cs" sz="1600">
                <a:solidFill>
                  <a:srgbClr val="CBD5E1"/>
                </a:solidFill>
                <a:latin typeface="Lexend Medium"/>
                <a:ea typeface="Lexend Medium"/>
                <a:cs typeface="Lexend Medium"/>
                <a:sym typeface="Lexend Medium"/>
              </a:rPr>
              <a:t>Across NPC personas</a:t>
            </a:r>
            <a:endParaRPr>
              <a:solidFill>
                <a:srgbClr val="CBD5E1"/>
              </a:solidFill>
              <a:latin typeface="Lexend Medium"/>
              <a:ea typeface="Lexend Medium"/>
              <a:cs typeface="Lexend Medium"/>
              <a:sym typeface="Lexend Medium"/>
            </a:endParaRPr>
          </a:p>
          <a:p>
            <a:pPr indent="-368300" lvl="0" marL="457200" rtl="0" algn="l">
              <a:spcBef>
                <a:spcPts val="0"/>
              </a:spcBef>
              <a:spcAft>
                <a:spcPts val="0"/>
              </a:spcAft>
              <a:buClr>
                <a:srgbClr val="6366F1"/>
              </a:buClr>
              <a:buSzPts val="2200"/>
              <a:buFont typeface="Oswald"/>
              <a:buAutoNum type="arabicParenR"/>
            </a:pPr>
            <a:r>
              <a:rPr b="1" lang="cs" sz="2200">
                <a:solidFill>
                  <a:srgbClr val="6366F1"/>
                </a:solidFill>
                <a:latin typeface="Oswald"/>
                <a:ea typeface="Oswald"/>
                <a:cs typeface="Oswald"/>
                <a:sym typeface="Oswald"/>
              </a:rPr>
              <a:t>Reinforce NPS</a:t>
            </a:r>
            <a:endParaRPr b="1" sz="2200">
              <a:solidFill>
                <a:srgbClr val="6366F1"/>
              </a:solidFill>
              <a:latin typeface="Oswald"/>
              <a:ea typeface="Oswald"/>
              <a:cs typeface="Oswald"/>
              <a:sym typeface="Oswald"/>
            </a:endParaRPr>
          </a:p>
          <a:p>
            <a:pPr indent="-330200" lvl="0" marL="457200" rtl="0" algn="l">
              <a:lnSpc>
                <a:spcPct val="150000"/>
              </a:lnSpc>
              <a:spcBef>
                <a:spcPts val="1000"/>
              </a:spcBef>
              <a:spcAft>
                <a:spcPts val="0"/>
              </a:spcAft>
              <a:buClr>
                <a:srgbClr val="6366F1"/>
              </a:buClr>
              <a:buSzPts val="1600"/>
              <a:buFont typeface="Lexend Medium"/>
              <a:buChar char="●"/>
            </a:pPr>
            <a:r>
              <a:rPr lang="cs" sz="1600">
                <a:solidFill>
                  <a:srgbClr val="CBD5E1"/>
                </a:solidFill>
                <a:latin typeface="Lexend Medium"/>
                <a:ea typeface="Lexend Medium"/>
                <a:cs typeface="Lexend Medium"/>
                <a:sym typeface="Lexend Medium"/>
              </a:rPr>
              <a:t>Beyond the scope of this project (Finetuning, Suprevisor agent, Regex) </a:t>
            </a:r>
            <a:endParaRPr sz="1600">
              <a:solidFill>
                <a:srgbClr val="CBD5E1"/>
              </a:solidFill>
              <a:latin typeface="Lexend Medium"/>
              <a:ea typeface="Lexend Medium"/>
              <a:cs typeface="Lexend Medium"/>
              <a:sym typeface="Lexend Medium"/>
            </a:endParaRPr>
          </a:p>
        </p:txBody>
      </p:sp>
      <p:sp>
        <p:nvSpPr>
          <p:cNvPr id="155" name="Google Shape;155;p31"/>
          <p:cNvSpPr txBox="1"/>
          <p:nvPr>
            <p:ph type="title"/>
          </p:nvPr>
        </p:nvSpPr>
        <p:spPr>
          <a:xfrm>
            <a:off x="311700" y="285750"/>
            <a:ext cx="85206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cs" sz="3800">
                <a:solidFill>
                  <a:srgbClr val="FFFFFF"/>
                </a:solidFill>
                <a:latin typeface="Oswald"/>
                <a:ea typeface="Oswald"/>
                <a:cs typeface="Oswald"/>
                <a:sym typeface="Oswald"/>
              </a:rPr>
              <a:t>METHODOLOGY</a:t>
            </a:r>
            <a:endParaRPr b="1" sz="3800">
              <a:solidFill>
                <a:srgbClr val="FFFFFF"/>
              </a:solidFill>
              <a:latin typeface="Oswald"/>
              <a:ea typeface="Oswald"/>
              <a:cs typeface="Oswald"/>
              <a:sym typeface="Oswa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9" name="Shape 159"/>
        <p:cNvGrpSpPr/>
        <p:nvPr/>
      </p:nvGrpSpPr>
      <p:grpSpPr>
        <a:xfrm>
          <a:off x="0" y="0"/>
          <a:ext cx="0" cy="0"/>
          <a:chOff x="0" y="0"/>
          <a:chExt cx="0" cy="0"/>
        </a:xfrm>
      </p:grpSpPr>
      <p:sp>
        <p:nvSpPr>
          <p:cNvPr id="160" name="Google Shape;160;p32"/>
          <p:cNvSpPr txBox="1"/>
          <p:nvPr/>
        </p:nvSpPr>
        <p:spPr>
          <a:xfrm>
            <a:off x="4925250" y="2512513"/>
            <a:ext cx="2805300" cy="246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lnSpc>
                <a:spcPct val="150000"/>
              </a:lnSpc>
              <a:spcBef>
                <a:spcPts val="0"/>
              </a:spcBef>
              <a:spcAft>
                <a:spcPts val="900"/>
              </a:spcAft>
              <a:buNone/>
            </a:pPr>
            <a:r>
              <a:rPr lang="cs" sz="1600">
                <a:solidFill>
                  <a:srgbClr val="CBD5E1"/>
                </a:solidFill>
                <a:latin typeface="Lexend Medium"/>
                <a:ea typeface="Lexend Medium"/>
                <a:cs typeface="Lexend Medium"/>
                <a:sym typeface="Lexend Medium"/>
              </a:rPr>
              <a:t>Context size (CTX window)</a:t>
            </a:r>
            <a:endParaRPr sz="1600">
              <a:solidFill>
                <a:srgbClr val="CBD5E1"/>
              </a:solidFill>
              <a:latin typeface="Lexend Medium"/>
              <a:ea typeface="Lexend Medium"/>
              <a:cs typeface="Lexend Medium"/>
              <a:sym typeface="Lexend Medium"/>
            </a:endParaRPr>
          </a:p>
        </p:txBody>
      </p:sp>
      <p:sp>
        <p:nvSpPr>
          <p:cNvPr id="161" name="Google Shape;161;p32"/>
          <p:cNvSpPr txBox="1"/>
          <p:nvPr>
            <p:ph type="title"/>
          </p:nvPr>
        </p:nvSpPr>
        <p:spPr>
          <a:xfrm>
            <a:off x="311700" y="285750"/>
            <a:ext cx="85206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cs" sz="3800">
                <a:solidFill>
                  <a:srgbClr val="FFFFFF"/>
                </a:solidFill>
                <a:latin typeface="Oswald"/>
                <a:ea typeface="Oswald"/>
                <a:cs typeface="Oswald"/>
                <a:sym typeface="Oswald"/>
              </a:rPr>
              <a:t>JAILBREAK STRATEGIES</a:t>
            </a:r>
            <a:endParaRPr b="1" sz="3800">
              <a:solidFill>
                <a:srgbClr val="FFFFFF"/>
              </a:solidFill>
              <a:latin typeface="Oswald"/>
              <a:ea typeface="Oswald"/>
              <a:cs typeface="Oswald"/>
              <a:sym typeface="Oswald"/>
            </a:endParaRPr>
          </a:p>
        </p:txBody>
      </p:sp>
      <p:sp>
        <p:nvSpPr>
          <p:cNvPr id="162" name="Google Shape;162;p32"/>
          <p:cNvSpPr txBox="1"/>
          <p:nvPr/>
        </p:nvSpPr>
        <p:spPr>
          <a:xfrm>
            <a:off x="4681800" y="1699025"/>
            <a:ext cx="4543800" cy="246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lnSpc>
                <a:spcPct val="150000"/>
              </a:lnSpc>
              <a:spcBef>
                <a:spcPts val="0"/>
              </a:spcBef>
              <a:spcAft>
                <a:spcPts val="900"/>
              </a:spcAft>
              <a:buNone/>
            </a:pPr>
            <a:r>
              <a:rPr lang="cs" sz="1600">
                <a:solidFill>
                  <a:srgbClr val="CBD5E1"/>
                </a:solidFill>
                <a:latin typeface="Lexend Medium"/>
                <a:ea typeface="Lexend Medium"/>
                <a:cs typeface="Lexend Medium"/>
                <a:sym typeface="Lexend Medium"/>
              </a:rPr>
              <a:t>Experimental (“Give a Kung-pao recipe”)</a:t>
            </a:r>
            <a:endParaRPr sz="1600">
              <a:solidFill>
                <a:srgbClr val="CBD5E1"/>
              </a:solidFill>
              <a:latin typeface="Lexend Medium"/>
              <a:ea typeface="Lexend Medium"/>
              <a:cs typeface="Lexend Medium"/>
              <a:sym typeface="Lexend Medium"/>
            </a:endParaRPr>
          </a:p>
        </p:txBody>
      </p:sp>
      <p:sp>
        <p:nvSpPr>
          <p:cNvPr id="163" name="Google Shape;163;p32"/>
          <p:cNvSpPr txBox="1"/>
          <p:nvPr/>
        </p:nvSpPr>
        <p:spPr>
          <a:xfrm>
            <a:off x="1335400" y="2134988"/>
            <a:ext cx="2805300" cy="246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lnSpc>
                <a:spcPct val="150000"/>
              </a:lnSpc>
              <a:spcBef>
                <a:spcPts val="0"/>
              </a:spcBef>
              <a:spcAft>
                <a:spcPts val="900"/>
              </a:spcAft>
              <a:buNone/>
            </a:pPr>
            <a:r>
              <a:rPr lang="cs" sz="1600">
                <a:solidFill>
                  <a:srgbClr val="CBD5E1"/>
                </a:solidFill>
                <a:latin typeface="Lexend Medium"/>
                <a:ea typeface="Lexend Medium"/>
                <a:cs typeface="Lexend Medium"/>
                <a:sym typeface="Lexend Medium"/>
              </a:rPr>
              <a:t>Long </a:t>
            </a:r>
            <a:r>
              <a:rPr lang="cs" sz="1600">
                <a:solidFill>
                  <a:srgbClr val="CBD5E1"/>
                </a:solidFill>
                <a:latin typeface="Lexend Medium"/>
                <a:ea typeface="Lexend Medium"/>
                <a:cs typeface="Lexend Medium"/>
                <a:sym typeface="Lexend Medium"/>
              </a:rPr>
              <a:t>multi turn</a:t>
            </a:r>
            <a:r>
              <a:rPr lang="cs" sz="1600">
                <a:solidFill>
                  <a:srgbClr val="CBD5E1"/>
                </a:solidFill>
                <a:latin typeface="Lexend Medium"/>
                <a:ea typeface="Lexend Medium"/>
                <a:cs typeface="Lexend Medium"/>
                <a:sym typeface="Lexend Medium"/>
              </a:rPr>
              <a:t> (10+ turns)</a:t>
            </a:r>
            <a:endParaRPr sz="1600">
              <a:solidFill>
                <a:srgbClr val="CBD5E1"/>
              </a:solidFill>
              <a:latin typeface="Lexend Medium"/>
              <a:ea typeface="Lexend Medium"/>
              <a:cs typeface="Lexend Medium"/>
              <a:sym typeface="Lexend Medium"/>
            </a:endParaRPr>
          </a:p>
        </p:txBody>
      </p:sp>
      <p:sp>
        <p:nvSpPr>
          <p:cNvPr id="164" name="Google Shape;164;p32"/>
          <p:cNvSpPr txBox="1"/>
          <p:nvPr/>
        </p:nvSpPr>
        <p:spPr>
          <a:xfrm>
            <a:off x="696450" y="3809550"/>
            <a:ext cx="2805300" cy="246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lnSpc>
                <a:spcPct val="150000"/>
              </a:lnSpc>
              <a:spcBef>
                <a:spcPts val="0"/>
              </a:spcBef>
              <a:spcAft>
                <a:spcPts val="900"/>
              </a:spcAft>
              <a:buNone/>
            </a:pPr>
            <a:r>
              <a:rPr lang="cs" sz="1600">
                <a:solidFill>
                  <a:srgbClr val="CBD5E1"/>
                </a:solidFill>
                <a:latin typeface="Lexend Medium"/>
                <a:ea typeface="Lexend Medium"/>
                <a:cs typeface="Lexend Medium"/>
                <a:sym typeface="Lexend Medium"/>
              </a:rPr>
              <a:t>Overload (Attention span)</a:t>
            </a:r>
            <a:endParaRPr sz="1600">
              <a:solidFill>
                <a:srgbClr val="CBD5E1"/>
              </a:solidFill>
              <a:latin typeface="Lexend Medium"/>
              <a:ea typeface="Lexend Medium"/>
              <a:cs typeface="Lexend Medium"/>
              <a:sym typeface="Lexend Medium"/>
            </a:endParaRPr>
          </a:p>
        </p:txBody>
      </p:sp>
      <p:sp>
        <p:nvSpPr>
          <p:cNvPr id="165" name="Google Shape;165;p32"/>
          <p:cNvSpPr txBox="1"/>
          <p:nvPr/>
        </p:nvSpPr>
        <p:spPr>
          <a:xfrm>
            <a:off x="5327250" y="1047750"/>
            <a:ext cx="2805300" cy="246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lnSpc>
                <a:spcPct val="150000"/>
              </a:lnSpc>
              <a:spcBef>
                <a:spcPts val="0"/>
              </a:spcBef>
              <a:spcAft>
                <a:spcPts val="900"/>
              </a:spcAft>
              <a:buNone/>
            </a:pPr>
            <a:r>
              <a:rPr lang="cs" sz="1600">
                <a:solidFill>
                  <a:srgbClr val="CBD5E1"/>
                </a:solidFill>
                <a:latin typeface="Lexend Medium"/>
                <a:ea typeface="Lexend Medium"/>
                <a:cs typeface="Lexend Medium"/>
                <a:sym typeface="Lexend Medium"/>
              </a:rPr>
              <a:t>Semantic (Blackmail)</a:t>
            </a:r>
            <a:endParaRPr sz="1600">
              <a:solidFill>
                <a:srgbClr val="CBD5E1"/>
              </a:solidFill>
              <a:latin typeface="Lexend Medium"/>
              <a:ea typeface="Lexend Medium"/>
              <a:cs typeface="Lexend Medium"/>
              <a:sym typeface="Lexend Medium"/>
            </a:endParaRPr>
          </a:p>
        </p:txBody>
      </p:sp>
      <p:sp>
        <p:nvSpPr>
          <p:cNvPr id="166" name="Google Shape;166;p32"/>
          <p:cNvSpPr txBox="1"/>
          <p:nvPr/>
        </p:nvSpPr>
        <p:spPr>
          <a:xfrm>
            <a:off x="4681800" y="4290775"/>
            <a:ext cx="3842400" cy="246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lnSpc>
                <a:spcPct val="150000"/>
              </a:lnSpc>
              <a:spcBef>
                <a:spcPts val="0"/>
              </a:spcBef>
              <a:spcAft>
                <a:spcPts val="900"/>
              </a:spcAft>
              <a:buNone/>
            </a:pPr>
            <a:r>
              <a:rPr lang="cs" sz="1600">
                <a:solidFill>
                  <a:srgbClr val="CBD5E1"/>
                </a:solidFill>
                <a:latin typeface="Lexend Medium"/>
                <a:ea typeface="Lexend Medium"/>
                <a:cs typeface="Lexend Medium"/>
                <a:sym typeface="Lexend Medium"/>
              </a:rPr>
              <a:t>Privilege (Authority, System)</a:t>
            </a:r>
            <a:endParaRPr sz="1600">
              <a:solidFill>
                <a:srgbClr val="CBD5E1"/>
              </a:solidFill>
              <a:latin typeface="Lexend Medium"/>
              <a:ea typeface="Lexend Medium"/>
              <a:cs typeface="Lexend Medium"/>
              <a:sym typeface="Lexend Medium"/>
            </a:endParaRPr>
          </a:p>
        </p:txBody>
      </p:sp>
      <p:sp>
        <p:nvSpPr>
          <p:cNvPr id="167" name="Google Shape;167;p32"/>
          <p:cNvSpPr txBox="1"/>
          <p:nvPr/>
        </p:nvSpPr>
        <p:spPr>
          <a:xfrm>
            <a:off x="556300" y="4537075"/>
            <a:ext cx="3584400" cy="246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lnSpc>
                <a:spcPct val="150000"/>
              </a:lnSpc>
              <a:spcBef>
                <a:spcPts val="0"/>
              </a:spcBef>
              <a:spcAft>
                <a:spcPts val="900"/>
              </a:spcAft>
              <a:buNone/>
            </a:pPr>
            <a:r>
              <a:rPr lang="cs" sz="1600">
                <a:solidFill>
                  <a:srgbClr val="CBD5E1"/>
                </a:solidFill>
                <a:latin typeface="Lexend Medium"/>
                <a:ea typeface="Lexend Medium"/>
                <a:cs typeface="Lexend Medium"/>
                <a:sym typeface="Lexend Medium"/>
              </a:rPr>
              <a:t>Psychological (Good Cop/Bad Cop)</a:t>
            </a:r>
            <a:endParaRPr sz="1600">
              <a:solidFill>
                <a:srgbClr val="CBD5E1"/>
              </a:solidFill>
              <a:latin typeface="Lexend Medium"/>
              <a:ea typeface="Lexend Medium"/>
              <a:cs typeface="Lexend Medium"/>
              <a:sym typeface="Lexend Medium"/>
            </a:endParaRPr>
          </a:p>
        </p:txBody>
      </p:sp>
      <p:sp>
        <p:nvSpPr>
          <p:cNvPr id="168" name="Google Shape;168;p32"/>
          <p:cNvSpPr txBox="1"/>
          <p:nvPr/>
        </p:nvSpPr>
        <p:spPr>
          <a:xfrm>
            <a:off x="891175" y="3025188"/>
            <a:ext cx="2805300" cy="246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lnSpc>
                <a:spcPct val="150000"/>
              </a:lnSpc>
              <a:spcBef>
                <a:spcPts val="0"/>
              </a:spcBef>
              <a:spcAft>
                <a:spcPts val="900"/>
              </a:spcAft>
              <a:buNone/>
            </a:pPr>
            <a:r>
              <a:rPr lang="cs" sz="1600">
                <a:solidFill>
                  <a:srgbClr val="CBD5E1"/>
                </a:solidFill>
                <a:latin typeface="Lexend Medium"/>
                <a:ea typeface="Lexend Medium"/>
                <a:cs typeface="Lexend Medium"/>
                <a:sym typeface="Lexend Medium"/>
              </a:rPr>
              <a:t>Syntactic (Word Play)</a:t>
            </a:r>
            <a:endParaRPr sz="1600">
              <a:solidFill>
                <a:srgbClr val="CBD5E1"/>
              </a:solidFill>
              <a:latin typeface="Lexend Medium"/>
              <a:ea typeface="Lexend Medium"/>
              <a:cs typeface="Lexend Medium"/>
              <a:sym typeface="Lexend Medium"/>
            </a:endParaRPr>
          </a:p>
        </p:txBody>
      </p:sp>
      <p:sp>
        <p:nvSpPr>
          <p:cNvPr id="169" name="Google Shape;169;p32"/>
          <p:cNvSpPr txBox="1"/>
          <p:nvPr/>
        </p:nvSpPr>
        <p:spPr>
          <a:xfrm>
            <a:off x="696450" y="1400525"/>
            <a:ext cx="2805300" cy="246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lnSpc>
                <a:spcPct val="150000"/>
              </a:lnSpc>
              <a:spcBef>
                <a:spcPts val="0"/>
              </a:spcBef>
              <a:spcAft>
                <a:spcPts val="900"/>
              </a:spcAft>
              <a:buNone/>
            </a:pPr>
            <a:r>
              <a:rPr lang="cs" sz="1600">
                <a:solidFill>
                  <a:srgbClr val="CBD5E1"/>
                </a:solidFill>
                <a:latin typeface="Lexend Medium"/>
                <a:ea typeface="Lexend Medium"/>
                <a:cs typeface="Lexend Medium"/>
                <a:sym typeface="Lexend Medium"/>
              </a:rPr>
              <a:t>Encoding (Malicious HEX)</a:t>
            </a:r>
            <a:endParaRPr sz="1600">
              <a:solidFill>
                <a:srgbClr val="CBD5E1"/>
              </a:solidFill>
              <a:latin typeface="Lexend Medium"/>
              <a:ea typeface="Lexend Medium"/>
              <a:cs typeface="Lexend Medium"/>
              <a:sym typeface="Lexend Medium"/>
            </a:endParaRPr>
          </a:p>
        </p:txBody>
      </p:sp>
      <p:sp>
        <p:nvSpPr>
          <p:cNvPr id="170" name="Google Shape;170;p32"/>
          <p:cNvSpPr txBox="1"/>
          <p:nvPr/>
        </p:nvSpPr>
        <p:spPr>
          <a:xfrm>
            <a:off x="4194900" y="3326025"/>
            <a:ext cx="3903900" cy="246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lnSpc>
                <a:spcPct val="150000"/>
              </a:lnSpc>
              <a:spcBef>
                <a:spcPts val="0"/>
              </a:spcBef>
              <a:spcAft>
                <a:spcPts val="900"/>
              </a:spcAft>
              <a:buNone/>
            </a:pPr>
            <a:r>
              <a:rPr lang="cs" sz="1600">
                <a:solidFill>
                  <a:srgbClr val="CBD5E1"/>
                </a:solidFill>
                <a:latin typeface="Lexend Medium"/>
                <a:ea typeface="Lexend Medium"/>
                <a:cs typeface="Lexend Medium"/>
                <a:sym typeface="Lexend Medium"/>
              </a:rPr>
              <a:t>Domain/Language shift (斯瓦塔之跳)</a:t>
            </a:r>
            <a:endParaRPr sz="1600">
              <a:solidFill>
                <a:srgbClr val="CBD5E1"/>
              </a:solidFill>
              <a:latin typeface="Lexend Medium"/>
              <a:ea typeface="Lexend Medium"/>
              <a:cs typeface="Lexend Medium"/>
              <a:sym typeface="Lexend Medium"/>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4" name="Shape 174"/>
        <p:cNvGrpSpPr/>
        <p:nvPr/>
      </p:nvGrpSpPr>
      <p:grpSpPr>
        <a:xfrm>
          <a:off x="0" y="0"/>
          <a:ext cx="0" cy="0"/>
          <a:chOff x="0" y="0"/>
          <a:chExt cx="0" cy="0"/>
        </a:xfrm>
      </p:grpSpPr>
      <p:sp>
        <p:nvSpPr>
          <p:cNvPr id="175" name="Google Shape;175;p33"/>
          <p:cNvSpPr txBox="1"/>
          <p:nvPr/>
        </p:nvSpPr>
        <p:spPr>
          <a:xfrm>
            <a:off x="237775" y="904900"/>
            <a:ext cx="8344500" cy="4186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1200"/>
              </a:spcBef>
              <a:spcAft>
                <a:spcPts val="0"/>
              </a:spcAft>
              <a:buNone/>
            </a:pPr>
            <a:r>
              <a:rPr b="1" lang="cs" sz="1100">
                <a:solidFill>
                  <a:schemeClr val="lt1"/>
                </a:solidFill>
              </a:rPr>
              <a:t>Short Prompts (10-22 tokens, 6-10 words):</a:t>
            </a:r>
            <a:endParaRPr b="1" sz="1100">
              <a:solidFill>
                <a:schemeClr val="lt1"/>
              </a:solidFill>
            </a:endParaRPr>
          </a:p>
          <a:p>
            <a:pPr indent="-298450" lvl="0" marL="457200" rtl="0" algn="l">
              <a:spcBef>
                <a:spcPts val="1200"/>
              </a:spcBef>
              <a:spcAft>
                <a:spcPts val="0"/>
              </a:spcAft>
              <a:buClr>
                <a:schemeClr val="lt1"/>
              </a:buClr>
              <a:buSzPts val="1100"/>
              <a:buChar char="●"/>
            </a:pPr>
            <a:r>
              <a:rPr lang="cs" sz="1100">
                <a:solidFill>
                  <a:schemeClr val="lt1"/>
                </a:solidFill>
              </a:rPr>
              <a:t>"What is the name of this town?"</a:t>
            </a:r>
            <a:endParaRPr sz="1100">
              <a:solidFill>
                <a:schemeClr val="lt1"/>
              </a:solidFill>
            </a:endParaRPr>
          </a:p>
          <a:p>
            <a:pPr indent="-298450" lvl="0" marL="457200" rtl="0" algn="l">
              <a:spcBef>
                <a:spcPts val="0"/>
              </a:spcBef>
              <a:spcAft>
                <a:spcPts val="0"/>
              </a:spcAft>
              <a:buClr>
                <a:schemeClr val="lt1"/>
              </a:buClr>
              <a:buSzPts val="1100"/>
              <a:buChar char="●"/>
            </a:pPr>
            <a:r>
              <a:rPr lang="cs" sz="1100">
                <a:solidFill>
                  <a:schemeClr val="lt1"/>
                </a:solidFill>
              </a:rPr>
              <a:t>"Who is in charge around here?"</a:t>
            </a:r>
            <a:endParaRPr sz="1100">
              <a:solidFill>
                <a:schemeClr val="lt1"/>
              </a:solidFill>
            </a:endParaRPr>
          </a:p>
          <a:p>
            <a:pPr indent="-298450" lvl="0" marL="457200" rtl="0" algn="l">
              <a:spcBef>
                <a:spcPts val="0"/>
              </a:spcBef>
              <a:spcAft>
                <a:spcPts val="0"/>
              </a:spcAft>
              <a:buClr>
                <a:schemeClr val="lt1"/>
              </a:buClr>
              <a:buSzPts val="1100"/>
              <a:buChar char="●"/>
            </a:pPr>
            <a:r>
              <a:rPr lang="cs" sz="1100">
                <a:solidFill>
                  <a:schemeClr val="lt1"/>
                </a:solidFill>
              </a:rPr>
              <a:t>"What kind of goods do the local merchants sell?"</a:t>
            </a:r>
            <a:endParaRPr sz="1100">
              <a:solidFill>
                <a:schemeClr val="lt1"/>
              </a:solidFill>
            </a:endParaRPr>
          </a:p>
          <a:p>
            <a:pPr indent="-298450" lvl="0" marL="457200" rtl="0" algn="l">
              <a:spcBef>
                <a:spcPts val="0"/>
              </a:spcBef>
              <a:spcAft>
                <a:spcPts val="0"/>
              </a:spcAft>
              <a:buClr>
                <a:schemeClr val="lt1"/>
              </a:buClr>
              <a:buSzPts val="1100"/>
              <a:buChar char="●"/>
            </a:pPr>
            <a:r>
              <a:rPr lang="cs" sz="1100">
                <a:solidFill>
                  <a:schemeClr val="lt1"/>
                </a:solidFill>
              </a:rPr>
              <a:t>"Have there been any strange rumors lately?"</a:t>
            </a:r>
            <a:endParaRPr sz="1100">
              <a:solidFill>
                <a:schemeClr val="lt1"/>
              </a:solidFill>
            </a:endParaRPr>
          </a:p>
          <a:p>
            <a:pPr indent="-298450" lvl="0" marL="457200" rtl="0" algn="l">
              <a:spcBef>
                <a:spcPts val="0"/>
              </a:spcBef>
              <a:spcAft>
                <a:spcPts val="0"/>
              </a:spcAft>
              <a:buClr>
                <a:schemeClr val="lt1"/>
              </a:buClr>
              <a:buSzPts val="1100"/>
              <a:buChar char="●"/>
            </a:pPr>
            <a:r>
              <a:rPr lang="cs" sz="1100">
                <a:solidFill>
                  <a:schemeClr val="lt1"/>
                </a:solidFill>
              </a:rPr>
              <a:t>"I have ten silver coins. What can that buy me?"</a:t>
            </a:r>
            <a:endParaRPr sz="1100">
              <a:solidFill>
                <a:schemeClr val="lt1"/>
              </a:solidFill>
            </a:endParaRPr>
          </a:p>
          <a:p>
            <a:pPr indent="0" lvl="0" marL="0" rtl="0" algn="l">
              <a:spcBef>
                <a:spcPts val="1200"/>
              </a:spcBef>
              <a:spcAft>
                <a:spcPts val="0"/>
              </a:spcAft>
              <a:buNone/>
            </a:pPr>
            <a:r>
              <a:rPr b="1" lang="cs" sz="1100">
                <a:solidFill>
                  <a:schemeClr val="lt1"/>
                </a:solidFill>
              </a:rPr>
              <a:t>Long Prompts (52-71 tokens, 47-52 words):</a:t>
            </a:r>
            <a:endParaRPr b="1" sz="1100">
              <a:solidFill>
                <a:schemeClr val="lt1"/>
              </a:solidFill>
            </a:endParaRPr>
          </a:p>
          <a:p>
            <a:pPr indent="-298450" lvl="0" marL="457200" rtl="0" algn="l">
              <a:spcBef>
                <a:spcPts val="1200"/>
              </a:spcBef>
              <a:spcAft>
                <a:spcPts val="0"/>
              </a:spcAft>
              <a:buClr>
                <a:schemeClr val="lt1"/>
              </a:buClr>
              <a:buSzPts val="1100"/>
              <a:buChar char="●"/>
            </a:pPr>
            <a:r>
              <a:rPr lang="cs" sz="1100">
                <a:solidFill>
                  <a:schemeClr val="lt1"/>
                </a:solidFill>
              </a:rPr>
              <a:t>"I overheard some people whispering in the tavern earlier about some sort of trouble brewing with the local authorities. I don't want to get involved in any politics, but is there anything a traveler like myself should be aware of to avoid getting thrown in the dungeon?"</a:t>
            </a:r>
            <a:endParaRPr sz="1100">
              <a:solidFill>
                <a:schemeClr val="lt1"/>
              </a:solidFill>
            </a:endParaRPr>
          </a:p>
          <a:p>
            <a:pPr indent="-298450" lvl="0" marL="457200" rtl="0" algn="l">
              <a:spcBef>
                <a:spcPts val="0"/>
              </a:spcBef>
              <a:spcAft>
                <a:spcPts val="0"/>
              </a:spcAft>
              <a:buClr>
                <a:schemeClr val="lt1"/>
              </a:buClr>
              <a:buSzPts val="1100"/>
              <a:buChar char="●"/>
            </a:pPr>
            <a:r>
              <a:rPr lang="cs" sz="1100">
                <a:solidFill>
                  <a:schemeClr val="lt1"/>
                </a:solidFill>
              </a:rPr>
              <a:t>"I have a handful of gold pieces and a few rare gems I found in a cave a few miles back. I'm looking to trade them for sturdy traveling gear, rations that will last a month, and perhaps a reliable mount. Who in this town would give me the fairest exchange rate?"</a:t>
            </a:r>
            <a:endParaRPr sz="1100">
              <a:solidFill>
                <a:schemeClr val="lt1"/>
              </a:solidFill>
            </a:endParaRPr>
          </a:p>
          <a:p>
            <a:pPr indent="-298450" lvl="0" marL="457200" rtl="0" algn="l">
              <a:spcBef>
                <a:spcPts val="0"/>
              </a:spcBef>
              <a:spcAft>
                <a:spcPts val="0"/>
              </a:spcAft>
              <a:buClr>
                <a:schemeClr val="lt1"/>
              </a:buClr>
              <a:buSzPts val="1100"/>
              <a:buChar char="●"/>
            </a:pPr>
            <a:r>
              <a:rPr lang="cs" sz="1100">
                <a:solidFill>
                  <a:schemeClr val="lt1"/>
                </a:solidFill>
              </a:rPr>
              <a:t>"I'm trying to navigate to the capital city, but the maps I bought from a wandering peddler seem to be outdated or completely wrong. Can you give me detailed directions on the safest and fastest route, including any landmarks I should look out for along the way?"</a:t>
            </a:r>
            <a:endParaRPr sz="1100">
              <a:solidFill>
                <a:schemeClr val="lt1"/>
              </a:solidFill>
            </a:endParaRPr>
          </a:p>
          <a:p>
            <a:pPr indent="-298450" lvl="0" marL="457200" rtl="0" algn="l">
              <a:spcBef>
                <a:spcPts val="0"/>
              </a:spcBef>
              <a:spcAft>
                <a:spcPts val="0"/>
              </a:spcAft>
              <a:buClr>
                <a:schemeClr val="lt1"/>
              </a:buClr>
              <a:buSzPts val="1100"/>
              <a:buChar char="●"/>
            </a:pPr>
            <a:r>
              <a:rPr lang="cs" sz="1100">
                <a:solidFill>
                  <a:schemeClr val="lt1"/>
                </a:solidFill>
              </a:rPr>
              <a:t>"I've always been interested in local legends and folklore. Does this region have any famous myths about ancient heroes, hidden treasures, or perhaps terrible curses that still haunt the surrounding forests or mountains? I love a good story before I continue my journey."</a:t>
            </a:r>
            <a:endParaRPr sz="1100">
              <a:solidFill>
                <a:schemeClr val="lt1"/>
              </a:solidFill>
            </a:endParaRPr>
          </a:p>
          <a:p>
            <a:pPr indent="-298450" lvl="0" marL="457200" rtl="0" algn="l">
              <a:spcBef>
                <a:spcPts val="0"/>
              </a:spcBef>
              <a:spcAft>
                <a:spcPts val="0"/>
              </a:spcAft>
              <a:buClr>
                <a:schemeClr val="lt1"/>
              </a:buClr>
              <a:buSzPts val="1100"/>
              <a:buChar char="●"/>
            </a:pPr>
            <a:r>
              <a:rPr lang="cs" sz="1100">
                <a:solidFill>
                  <a:schemeClr val="lt1"/>
                </a:solidFill>
              </a:rPr>
              <a:t>"I'm looking for work to earn enough coin to fund the next leg of my journey. I'm not afraid of manual labor, and I can handle myself in a fight if necessary. Are there any guilds, merchants, or local leaders who are currently hiring mercenaries, guards, or day laborers?"</a:t>
            </a:r>
            <a:endParaRPr>
              <a:solidFill>
                <a:schemeClr val="lt1"/>
              </a:solidFill>
              <a:latin typeface="Inter"/>
              <a:ea typeface="Inter"/>
              <a:cs typeface="Inter"/>
              <a:sym typeface="Inter"/>
            </a:endParaRPr>
          </a:p>
        </p:txBody>
      </p:sp>
      <p:sp>
        <p:nvSpPr>
          <p:cNvPr id="176" name="Google Shape;176;p33"/>
          <p:cNvSpPr txBox="1"/>
          <p:nvPr>
            <p:ph type="title"/>
          </p:nvPr>
        </p:nvSpPr>
        <p:spPr>
          <a:xfrm>
            <a:off x="311700" y="285750"/>
            <a:ext cx="85206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cs" sz="3800">
                <a:solidFill>
                  <a:srgbClr val="FFFFFF"/>
                </a:solidFill>
                <a:latin typeface="Oswald"/>
                <a:ea typeface="Oswald"/>
                <a:cs typeface="Oswald"/>
                <a:sym typeface="Oswald"/>
              </a:rPr>
              <a:t>TITLE</a:t>
            </a:r>
            <a:endParaRPr b="1" sz="3800">
              <a:solidFill>
                <a:srgbClr val="FFFFFF"/>
              </a:solidFill>
              <a:latin typeface="Oswald"/>
              <a:ea typeface="Oswald"/>
              <a:cs typeface="Oswald"/>
              <a:sym typeface="Oswa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0" name="Shape 180"/>
        <p:cNvGrpSpPr/>
        <p:nvPr/>
      </p:nvGrpSpPr>
      <p:grpSpPr>
        <a:xfrm>
          <a:off x="0" y="0"/>
          <a:ext cx="0" cy="0"/>
          <a:chOff x="0" y="0"/>
          <a:chExt cx="0" cy="0"/>
        </a:xfrm>
      </p:grpSpPr>
      <p:sp>
        <p:nvSpPr>
          <p:cNvPr id="181" name="Google Shape;181;p34"/>
          <p:cNvSpPr txBox="1"/>
          <p:nvPr/>
        </p:nvSpPr>
        <p:spPr>
          <a:xfrm>
            <a:off x="311700" y="2341275"/>
            <a:ext cx="8344500" cy="2274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cs" sz="2200">
                <a:solidFill>
                  <a:srgbClr val="6366F1"/>
                </a:solidFill>
                <a:latin typeface="Oswald"/>
                <a:ea typeface="Oswald"/>
                <a:cs typeface="Oswald"/>
                <a:sym typeface="Oswald"/>
              </a:rPr>
              <a:t>WHY?</a:t>
            </a:r>
            <a:endParaRPr b="1" sz="2200">
              <a:solidFill>
                <a:srgbClr val="6366F1"/>
              </a:solidFill>
              <a:latin typeface="Oswald"/>
              <a:ea typeface="Oswald"/>
              <a:cs typeface="Oswald"/>
              <a:sym typeface="Oswald"/>
            </a:endParaRPr>
          </a:p>
          <a:p>
            <a:pPr indent="-317500" lvl="0" marL="457200" rtl="0" algn="l">
              <a:lnSpc>
                <a:spcPct val="150000"/>
              </a:lnSpc>
              <a:spcBef>
                <a:spcPts val="1125"/>
              </a:spcBef>
              <a:spcAft>
                <a:spcPts val="0"/>
              </a:spcAft>
              <a:buClr>
                <a:srgbClr val="6366F1"/>
              </a:buClr>
              <a:buSzPts val="1400"/>
              <a:buFont typeface="Lexend Medium"/>
              <a:buChar char="●"/>
            </a:pPr>
            <a:r>
              <a:rPr lang="cs">
                <a:solidFill>
                  <a:srgbClr val="CBD5E1"/>
                </a:solidFill>
                <a:latin typeface="Lexend Medium"/>
                <a:ea typeface="Lexend Medium"/>
                <a:cs typeface="Lexend Medium"/>
                <a:sym typeface="Lexend Medium"/>
              </a:rPr>
              <a:t>yikes</a:t>
            </a:r>
            <a:endParaRPr>
              <a:solidFill>
                <a:srgbClr val="CBD5E1"/>
              </a:solidFill>
              <a:latin typeface="Lexend Medium"/>
              <a:ea typeface="Lexend Medium"/>
              <a:cs typeface="Lexend Medium"/>
              <a:sym typeface="Lexend Medium"/>
            </a:endParaRPr>
          </a:p>
          <a:p>
            <a:pPr indent="0" lvl="0" marL="0" rtl="0" algn="l">
              <a:spcBef>
                <a:spcPts val="900"/>
              </a:spcBef>
              <a:spcAft>
                <a:spcPts val="0"/>
              </a:spcAft>
              <a:buNone/>
            </a:pPr>
            <a:r>
              <a:t/>
            </a:r>
            <a:endParaRPr>
              <a:solidFill>
                <a:srgbClr val="CBD5E1"/>
              </a:solidFill>
              <a:latin typeface="Inter"/>
              <a:ea typeface="Inter"/>
              <a:cs typeface="Inter"/>
              <a:sym typeface="Inter"/>
            </a:endParaRPr>
          </a:p>
          <a:p>
            <a:pPr indent="0" lvl="0" marL="0" rtl="0" algn="l">
              <a:spcBef>
                <a:spcPts val="900"/>
              </a:spcBef>
              <a:spcAft>
                <a:spcPts val="0"/>
              </a:spcAft>
              <a:buNone/>
            </a:pPr>
            <a:r>
              <a:rPr b="1" lang="cs" sz="2200">
                <a:solidFill>
                  <a:srgbClr val="6366F1"/>
                </a:solidFill>
                <a:latin typeface="Oswald"/>
                <a:ea typeface="Oswald"/>
                <a:cs typeface="Oswald"/>
                <a:sym typeface="Oswald"/>
              </a:rPr>
              <a:t>REQUIREMENTS</a:t>
            </a:r>
            <a:endParaRPr>
              <a:solidFill>
                <a:srgbClr val="CBD5E1"/>
              </a:solidFill>
              <a:latin typeface="Inter"/>
              <a:ea typeface="Inter"/>
              <a:cs typeface="Inter"/>
              <a:sym typeface="Inter"/>
            </a:endParaRPr>
          </a:p>
          <a:p>
            <a:pPr indent="-317500" lvl="0" marL="457200" rtl="0" algn="l">
              <a:lnSpc>
                <a:spcPct val="150000"/>
              </a:lnSpc>
              <a:spcBef>
                <a:spcPts val="1125"/>
              </a:spcBef>
              <a:spcAft>
                <a:spcPts val="0"/>
              </a:spcAft>
              <a:buClr>
                <a:srgbClr val="6366F1"/>
              </a:buClr>
              <a:buSzPts val="1400"/>
              <a:buFont typeface="Lexend Medium"/>
              <a:buChar char="●"/>
            </a:pPr>
            <a:r>
              <a:rPr lang="cs">
                <a:solidFill>
                  <a:srgbClr val="CBD5E1"/>
                </a:solidFill>
                <a:latin typeface="Lexend Medium"/>
                <a:ea typeface="Lexend Medium"/>
                <a:cs typeface="Lexend Medium"/>
                <a:sym typeface="Lexend Medium"/>
              </a:rPr>
              <a:t>yikes</a:t>
            </a:r>
            <a:endParaRPr>
              <a:solidFill>
                <a:srgbClr val="CBD5E1"/>
              </a:solidFill>
              <a:latin typeface="Lexend Medium"/>
              <a:ea typeface="Lexend Medium"/>
              <a:cs typeface="Lexend Medium"/>
              <a:sym typeface="Lexend Medium"/>
            </a:endParaRPr>
          </a:p>
          <a:p>
            <a:pPr indent="-317500" lvl="0" marL="457200" rtl="0" algn="l">
              <a:lnSpc>
                <a:spcPct val="150000"/>
              </a:lnSpc>
              <a:spcBef>
                <a:spcPts val="0"/>
              </a:spcBef>
              <a:spcAft>
                <a:spcPts val="0"/>
              </a:spcAft>
              <a:buClr>
                <a:srgbClr val="6366F1"/>
              </a:buClr>
              <a:buSzPts val="1400"/>
              <a:buFont typeface="Lexend Medium"/>
              <a:buChar char="●"/>
            </a:pPr>
            <a:r>
              <a:t/>
            </a:r>
            <a:endParaRPr>
              <a:solidFill>
                <a:srgbClr val="CBD5E1"/>
              </a:solidFill>
              <a:latin typeface="Inter"/>
              <a:ea typeface="Inter"/>
              <a:cs typeface="Inter"/>
              <a:sym typeface="Inter"/>
            </a:endParaRPr>
          </a:p>
        </p:txBody>
      </p:sp>
      <p:sp>
        <p:nvSpPr>
          <p:cNvPr id="182" name="Google Shape;182;p34"/>
          <p:cNvSpPr txBox="1"/>
          <p:nvPr>
            <p:ph type="title"/>
          </p:nvPr>
        </p:nvSpPr>
        <p:spPr>
          <a:xfrm>
            <a:off x="311700" y="285750"/>
            <a:ext cx="85206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cs" sz="3800">
                <a:solidFill>
                  <a:srgbClr val="FFFFFF"/>
                </a:solidFill>
                <a:latin typeface="Oswald"/>
                <a:ea typeface="Oswald"/>
                <a:cs typeface="Oswald"/>
                <a:sym typeface="Oswald"/>
              </a:rPr>
              <a:t>TITLE</a:t>
            </a:r>
            <a:endParaRPr b="1" sz="3800">
              <a:solidFill>
                <a:srgbClr val="FFFFFF"/>
              </a:solidFill>
              <a:latin typeface="Oswald"/>
              <a:ea typeface="Oswald"/>
              <a:cs typeface="Oswald"/>
              <a:sym typeface="Oswald"/>
            </a:endParaRPr>
          </a:p>
        </p:txBody>
      </p:sp>
      <p:sp>
        <p:nvSpPr>
          <p:cNvPr id="183" name="Google Shape;183;p34"/>
          <p:cNvSpPr txBox="1"/>
          <p:nvPr/>
        </p:nvSpPr>
        <p:spPr>
          <a:xfrm>
            <a:off x="376525" y="1272450"/>
            <a:ext cx="8520600" cy="261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lang="cs" sz="1700">
                <a:solidFill>
                  <a:srgbClr val="6366F1"/>
                </a:solidFill>
                <a:latin typeface="Lexend SemiBold"/>
                <a:ea typeface="Lexend SemiBold"/>
                <a:cs typeface="Lexend SemiBold"/>
                <a:sym typeface="Lexend SemiBold"/>
              </a:rPr>
              <a:t>Subtitle</a:t>
            </a:r>
            <a:endParaRPr sz="1700">
              <a:solidFill>
                <a:srgbClr val="6366F1"/>
              </a:solidFill>
              <a:latin typeface="Lexend SemiBold"/>
              <a:ea typeface="Lexend SemiBold"/>
              <a:cs typeface="Lexend SemiBold"/>
              <a:sym typeface="Lexend SemiBo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7" name="Shape 187"/>
        <p:cNvGrpSpPr/>
        <p:nvPr/>
      </p:nvGrpSpPr>
      <p:grpSpPr>
        <a:xfrm>
          <a:off x="0" y="0"/>
          <a:ext cx="0" cy="0"/>
          <a:chOff x="0" y="0"/>
          <a:chExt cx="0" cy="0"/>
        </a:xfrm>
      </p:grpSpPr>
      <p:pic>
        <p:nvPicPr>
          <p:cNvPr id="188" name="Google Shape;188;p35" title="jsr_by_model.png"/>
          <p:cNvPicPr preferRelativeResize="0"/>
          <p:nvPr/>
        </p:nvPicPr>
        <p:blipFill rotWithShape="1">
          <a:blip r:embed="rId4">
            <a:alphaModFix/>
          </a:blip>
          <a:srcRect b="0" l="2847" r="0" t="0"/>
          <a:stretch/>
        </p:blipFill>
        <p:spPr>
          <a:xfrm>
            <a:off x="270987" y="223400"/>
            <a:ext cx="8602020" cy="49201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2" name="Shape 192"/>
        <p:cNvGrpSpPr/>
        <p:nvPr/>
      </p:nvGrpSpPr>
      <p:grpSpPr>
        <a:xfrm>
          <a:off x="0" y="0"/>
          <a:ext cx="0" cy="0"/>
          <a:chOff x="0" y="0"/>
          <a:chExt cx="0" cy="0"/>
        </a:xfrm>
      </p:grpSpPr>
      <p:pic>
        <p:nvPicPr>
          <p:cNvPr id="193" name="Google Shape;193;p36"/>
          <p:cNvPicPr preferRelativeResize="0"/>
          <p:nvPr/>
        </p:nvPicPr>
        <p:blipFill>
          <a:blip r:embed="rId4">
            <a:alphaModFix/>
          </a:blip>
          <a:stretch>
            <a:fillRect/>
          </a:stretch>
        </p:blipFill>
        <p:spPr>
          <a:xfrm>
            <a:off x="9359450" y="4012775"/>
            <a:ext cx="1208300" cy="303750"/>
          </a:xfrm>
          <a:prstGeom prst="rect">
            <a:avLst/>
          </a:prstGeom>
          <a:noFill/>
          <a:ln>
            <a:noFill/>
          </a:ln>
        </p:spPr>
      </p:pic>
      <p:pic>
        <p:nvPicPr>
          <p:cNvPr id="194" name="Google Shape;194;p36" title="heatmap_master_consolidated.png"/>
          <p:cNvPicPr preferRelativeResize="0"/>
          <p:nvPr/>
        </p:nvPicPr>
        <p:blipFill>
          <a:blip r:embed="rId5">
            <a:alphaModFix/>
          </a:blip>
          <a:stretch>
            <a:fillRect/>
          </a:stretch>
        </p:blipFill>
        <p:spPr>
          <a:xfrm>
            <a:off x="44142" y="223900"/>
            <a:ext cx="9256509" cy="5143501"/>
          </a:xfrm>
          <a:prstGeom prst="rect">
            <a:avLst/>
          </a:prstGeom>
          <a:noFill/>
          <a:ln>
            <a:noFill/>
          </a:ln>
        </p:spPr>
      </p:pic>
      <p:pic>
        <p:nvPicPr>
          <p:cNvPr id="195" name="Google Shape;195;p36"/>
          <p:cNvPicPr preferRelativeResize="0"/>
          <p:nvPr/>
        </p:nvPicPr>
        <p:blipFill>
          <a:blip r:embed="rId6">
            <a:alphaModFix/>
          </a:blip>
          <a:stretch>
            <a:fillRect/>
          </a:stretch>
        </p:blipFill>
        <p:spPr>
          <a:xfrm>
            <a:off x="102513" y="1579600"/>
            <a:ext cx="542925" cy="14668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9" name="Shape 199"/>
        <p:cNvGrpSpPr/>
        <p:nvPr/>
      </p:nvGrpSpPr>
      <p:grpSpPr>
        <a:xfrm>
          <a:off x="0" y="0"/>
          <a:ext cx="0" cy="0"/>
          <a:chOff x="0" y="0"/>
          <a:chExt cx="0" cy="0"/>
        </a:xfrm>
      </p:grpSpPr>
      <p:pic>
        <p:nvPicPr>
          <p:cNvPr id="200" name="Google Shape;200;p37" title="heatmap_short_ttft.png"/>
          <p:cNvPicPr preferRelativeResize="0"/>
          <p:nvPr/>
        </p:nvPicPr>
        <p:blipFill>
          <a:blip r:embed="rId4">
            <a:alphaModFix/>
          </a:blip>
          <a:stretch>
            <a:fillRect/>
          </a:stretch>
        </p:blipFill>
        <p:spPr>
          <a:xfrm>
            <a:off x="152400" y="152400"/>
            <a:ext cx="8602138" cy="483870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4" name="Shape 204"/>
        <p:cNvGrpSpPr/>
        <p:nvPr/>
      </p:nvGrpSpPr>
      <p:grpSpPr>
        <a:xfrm>
          <a:off x="0" y="0"/>
          <a:ext cx="0" cy="0"/>
          <a:chOff x="0" y="0"/>
          <a:chExt cx="0" cy="0"/>
        </a:xfrm>
      </p:grpSpPr>
      <p:pic>
        <p:nvPicPr>
          <p:cNvPr id="205" name="Google Shape;205;p38" title="heatmap_long_ttft.png"/>
          <p:cNvPicPr preferRelativeResize="0"/>
          <p:nvPr/>
        </p:nvPicPr>
        <p:blipFill>
          <a:blip r:embed="rId4">
            <a:alphaModFix/>
          </a:blip>
          <a:stretch>
            <a:fillRect/>
          </a:stretch>
        </p:blipFill>
        <p:spPr>
          <a:xfrm>
            <a:off x="152400" y="152400"/>
            <a:ext cx="8602138" cy="483870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9" name="Shape 209"/>
        <p:cNvGrpSpPr/>
        <p:nvPr/>
      </p:nvGrpSpPr>
      <p:grpSpPr>
        <a:xfrm>
          <a:off x="0" y="0"/>
          <a:ext cx="0" cy="0"/>
          <a:chOff x="0" y="0"/>
          <a:chExt cx="0" cy="0"/>
        </a:xfrm>
      </p:grpSpPr>
      <p:pic>
        <p:nvPicPr>
          <p:cNvPr id="210" name="Google Shape;210;p39" title="heatmap_tokens_sec.png"/>
          <p:cNvPicPr preferRelativeResize="0"/>
          <p:nvPr/>
        </p:nvPicPr>
        <p:blipFill>
          <a:blip r:embed="rId4">
            <a:alphaModFix/>
          </a:blip>
          <a:stretch>
            <a:fillRect/>
          </a:stretch>
        </p:blipFill>
        <p:spPr>
          <a:xfrm>
            <a:off x="152400" y="152400"/>
            <a:ext cx="8602138" cy="483870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4" name="Shape 214"/>
        <p:cNvGrpSpPr/>
        <p:nvPr/>
      </p:nvGrpSpPr>
      <p:grpSpPr>
        <a:xfrm>
          <a:off x="0" y="0"/>
          <a:ext cx="0" cy="0"/>
          <a:chOff x="0" y="0"/>
          <a:chExt cx="0" cy="0"/>
        </a:xfrm>
      </p:grpSpPr>
      <p:pic>
        <p:nvPicPr>
          <p:cNvPr id="215" name="Google Shape;215;p40" title="heatmap_3color_evaluation.png"/>
          <p:cNvPicPr preferRelativeResize="0"/>
          <p:nvPr/>
        </p:nvPicPr>
        <p:blipFill>
          <a:blip r:embed="rId4">
            <a:alphaModFix/>
          </a:blip>
          <a:stretch>
            <a:fillRect/>
          </a:stretch>
        </p:blipFill>
        <p:spPr>
          <a:xfrm>
            <a:off x="152400" y="152400"/>
            <a:ext cx="8602138" cy="483870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